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01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"Edsger Dijkstra designed it in 20 minutes without pencil or paper. We took three weeks and cried."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480000">
            <a:off x="960120" y="594360"/>
            <a:ext cx="4389120" cy="274320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Algorithms &amp; Data Structures  ·  Graph Theory  ·  Group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051560"/>
            <a:ext cx="54864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4000" b="1">
                <a:solidFill>
                  <a:srgbClr val="2C2416"/>
                </a:solidFill>
                <a:latin typeface="Ink Free"/>
              </a:defRPr>
            </a:pPr>
            <a:r>
              <a:t>Dijkstra's Algorithm</a:t>
            </a:r>
          </a:p>
        </p:txBody>
      </p:sp>
      <p:sp>
        <p:nvSpPr>
          <p:cNvPr id="17" name="Freeform 16"/>
          <p:cNvSpPr/>
          <p:nvPr/>
        </p:nvSpPr>
        <p:spPr>
          <a:xfrm>
            <a:off x="987552" y="1580126"/>
            <a:ext cx="4754880" cy="58436"/>
          </a:xfrm>
          <a:custGeom>
            <a:avLst/>
            <a:gdLst/>
            <a:ahLst/>
            <a:cxnLst/>
            <a:rect l="l" t="t" r="r" b="b"/>
            <a:pathLst>
              <a:path w="4754880" h="58436">
                <a:moveTo>
                  <a:pt x="0" y="29248"/>
                </a:moveTo>
                <a:lnTo>
                  <a:pt x="169817" y="49194"/>
                </a:lnTo>
                <a:lnTo>
                  <a:pt x="339634" y="58436"/>
                </a:lnTo>
                <a:lnTo>
                  <a:pt x="509451" y="52016"/>
                </a:lnTo>
                <a:lnTo>
                  <a:pt x="679268" y="33378"/>
                </a:lnTo>
                <a:lnTo>
                  <a:pt x="849085" y="12524"/>
                </a:lnTo>
                <a:lnTo>
                  <a:pt x="1018902" y="645"/>
                </a:lnTo>
                <a:lnTo>
                  <a:pt x="1188720" y="4115"/>
                </a:lnTo>
                <a:lnTo>
                  <a:pt x="1358537" y="21073"/>
                </a:lnTo>
                <a:lnTo>
                  <a:pt x="1528354" y="42417"/>
                </a:lnTo>
                <a:lnTo>
                  <a:pt x="1698171" y="56695"/>
                </a:lnTo>
                <a:lnTo>
                  <a:pt x="1867988" y="56245"/>
                </a:lnTo>
                <a:lnTo>
                  <a:pt x="2037805" y="41307"/>
                </a:lnTo>
                <a:lnTo>
                  <a:pt x="2207622" y="19899"/>
                </a:lnTo>
                <a:lnTo>
                  <a:pt x="2377440" y="3508"/>
                </a:lnTo>
                <a:lnTo>
                  <a:pt x="2547257" y="930"/>
                </a:lnTo>
                <a:lnTo>
                  <a:pt x="2717074" y="13548"/>
                </a:lnTo>
                <a:lnTo>
                  <a:pt x="2886891" y="34591"/>
                </a:lnTo>
                <a:lnTo>
                  <a:pt x="3056708" y="52768"/>
                </a:lnTo>
                <a:lnTo>
                  <a:pt x="3226525" y="58323"/>
                </a:lnTo>
                <a:lnTo>
                  <a:pt x="3396342" y="48276"/>
                </a:lnTo>
                <a:lnTo>
                  <a:pt x="3566160" y="28019"/>
                </a:lnTo>
                <a:lnTo>
                  <a:pt x="3735977" y="8421"/>
                </a:lnTo>
                <a:lnTo>
                  <a:pt x="3905794" y="0"/>
                </a:lnTo>
                <a:lnTo>
                  <a:pt x="4075611" y="7274"/>
                </a:lnTo>
                <a:lnTo>
                  <a:pt x="4245428" y="26340"/>
                </a:lnTo>
                <a:lnTo>
                  <a:pt x="4415245" y="46967"/>
                </a:lnTo>
                <a:lnTo>
                  <a:pt x="4585062" y="58086"/>
                </a:lnTo>
                <a:lnTo>
                  <a:pt x="4754880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1874519"/>
            <a:ext cx="5303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5C4E3A"/>
                </a:solidFill>
                <a:latin typeface="Ink Free"/>
              </a:defRPr>
            </a:pPr>
            <a:r>
              <a:t>A scrapbook for anyone who has ever stared at a weighted graph and wondered: “what is the quickest way out of here?”</a:t>
            </a:r>
          </a:p>
        </p:txBody>
      </p:sp>
      <p:sp>
        <p:nvSpPr>
          <p:cNvPr id="19" name="Rectangle 18"/>
          <p:cNvSpPr/>
          <p:nvPr/>
        </p:nvSpPr>
        <p:spPr>
          <a:xfrm rot="21120000">
            <a:off x="960120" y="2971800"/>
            <a:ext cx="1783080" cy="420624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GREEDY &amp; PROUD</a:t>
            </a:r>
          </a:p>
        </p:txBody>
      </p:sp>
      <p:sp>
        <p:nvSpPr>
          <p:cNvPr id="20" name="Rectangle 19"/>
          <p:cNvSpPr/>
          <p:nvPr/>
        </p:nvSpPr>
        <p:spPr>
          <a:xfrm rot="21300000">
            <a:off x="2926080" y="2926080"/>
            <a:ext cx="2286000" cy="420624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NON-NEGATIVE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3886200"/>
            <a:ext cx="2926080" cy="512064"/>
          </a:xfrm>
          <a:prstGeom prst="rect">
            <a:avLst/>
          </a:prstGeom>
          <a:solidFill>
            <a:srgbClr val="2C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0120" y="3840480"/>
            <a:ext cx="2926080" cy="512064"/>
          </a:xfrm>
          <a:prstGeom prst="rect">
            <a:avLst/>
          </a:prstGeom>
          <a:solidFill>
            <a:srgbClr val="C45C3E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700" b="1">
                <a:solidFill>
                  <a:srgbClr val="FBF6EA"/>
                </a:solidFill>
                <a:latin typeface="Ink Free"/>
              </a:defRPr>
            </a:pPr>
            <a:r>
              <a:t>Open the scrapbook  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8056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7A6B55"/>
                </a:solidFill>
                <a:latin typeface="Ink Free"/>
              </a:defRPr>
            </a:pPr>
            <a:r>
              <a:t>Use arrow keys or space to navigate.</a:t>
            </a:r>
          </a:p>
        </p:txBody>
      </p:sp>
      <p:sp>
        <p:nvSpPr>
          <p:cNvPr id="24" name="Rectangle 23"/>
          <p:cNvSpPr/>
          <p:nvPr/>
        </p:nvSpPr>
        <p:spPr>
          <a:xfrm rot="120000">
            <a:off x="6675120" y="777240"/>
            <a:ext cx="4389120" cy="438912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dijkstra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6839712" y="941832"/>
            <a:ext cx="4059935" cy="373075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 rot="120000">
            <a:off x="6839712" y="941832"/>
            <a:ext cx="4059935" cy="373075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 rot="21360000">
            <a:off x="6949440" y="68580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 rot="480000">
            <a:off x="9784080" y="68580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 rot="120000">
            <a:off x="6812280" y="4709159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Exhibit A: our pathfinding notes after week 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02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"I drew the graph. Then I colored the nodes. Then the graph colored me."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40000">
            <a:off x="960120" y="548640"/>
            <a:ext cx="3108960" cy="256032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the table of contents, taped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C2416"/>
                </a:solidFill>
                <a:latin typeface="Ink Free"/>
              </a:defRPr>
            </a:pPr>
            <a:r>
              <a:t>What's mapped in this notebook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4206240" cy="58436"/>
          </a:xfrm>
          <a:custGeom>
            <a:avLst/>
            <a:gdLst/>
            <a:ahLst/>
            <a:cxnLst/>
            <a:rect l="l" t="t" r="r" b="b"/>
            <a:pathLst>
              <a:path w="4206240" h="58436">
                <a:moveTo>
                  <a:pt x="0" y="29249"/>
                </a:moveTo>
                <a:lnTo>
                  <a:pt x="150222" y="49194"/>
                </a:lnTo>
                <a:lnTo>
                  <a:pt x="300445" y="58436"/>
                </a:lnTo>
                <a:lnTo>
                  <a:pt x="450668" y="52016"/>
                </a:lnTo>
                <a:lnTo>
                  <a:pt x="600891" y="33378"/>
                </a:lnTo>
                <a:lnTo>
                  <a:pt x="751114" y="12524"/>
                </a:lnTo>
                <a:lnTo>
                  <a:pt x="901337" y="645"/>
                </a:lnTo>
                <a:lnTo>
                  <a:pt x="1051560" y="4115"/>
                </a:lnTo>
                <a:lnTo>
                  <a:pt x="1201782" y="21073"/>
                </a:lnTo>
                <a:lnTo>
                  <a:pt x="1352005" y="42417"/>
                </a:lnTo>
                <a:lnTo>
                  <a:pt x="1502228" y="56695"/>
                </a:lnTo>
                <a:lnTo>
                  <a:pt x="1652451" y="56245"/>
                </a:lnTo>
                <a:lnTo>
                  <a:pt x="1802674" y="41307"/>
                </a:lnTo>
                <a:lnTo>
                  <a:pt x="1952897" y="19899"/>
                </a:lnTo>
                <a:lnTo>
                  <a:pt x="2103120" y="3508"/>
                </a:lnTo>
                <a:lnTo>
                  <a:pt x="2253342" y="930"/>
                </a:lnTo>
                <a:lnTo>
                  <a:pt x="2403565" y="13548"/>
                </a:lnTo>
                <a:lnTo>
                  <a:pt x="2553788" y="34591"/>
                </a:lnTo>
                <a:lnTo>
                  <a:pt x="2704011" y="52768"/>
                </a:lnTo>
                <a:lnTo>
                  <a:pt x="2854234" y="58323"/>
                </a:lnTo>
                <a:lnTo>
                  <a:pt x="3004457" y="48276"/>
                </a:lnTo>
                <a:lnTo>
                  <a:pt x="3154680" y="28019"/>
                </a:lnTo>
                <a:lnTo>
                  <a:pt x="3304902" y="8421"/>
                </a:lnTo>
                <a:lnTo>
                  <a:pt x="3455125" y="0"/>
                </a:lnTo>
                <a:lnTo>
                  <a:pt x="3605348" y="7274"/>
                </a:lnTo>
                <a:lnTo>
                  <a:pt x="3755571" y="26340"/>
                </a:lnTo>
                <a:lnTo>
                  <a:pt x="3905794" y="46967"/>
                </a:lnTo>
                <a:lnTo>
                  <a:pt x="4056017" y="58086"/>
                </a:lnTo>
                <a:lnTo>
                  <a:pt x="4206240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70000">
            <a:off x="960120" y="1609344"/>
            <a:ext cx="9966960" cy="566928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Seven topics, one greedy genius, and a solemn vow to never relax an edge into negative territory.</a:t>
            </a:r>
          </a:p>
        </p:txBody>
      </p:sp>
      <p:sp>
        <p:nvSpPr>
          <p:cNvPr id="19" name="Rectangle 18"/>
          <p:cNvSpPr/>
          <p:nvPr/>
        </p:nvSpPr>
        <p:spPr>
          <a:xfrm rot="21570000">
            <a:off x="539496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 rot="21540000">
            <a:off x="960120" y="2395728"/>
            <a:ext cx="3154680" cy="105156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24688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5C3E"/>
                </a:solidFill>
                <a:latin typeface="Ink Free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450592"/>
            <a:ext cx="2441448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C2416"/>
                </a:solidFill>
                <a:latin typeface="Ink Free"/>
              </a:defRPr>
            </a:pPr>
            <a:r>
              <a:t>Shortest Path Problem</a:t>
            </a:r>
          </a:p>
          <a:p>
            <a:pPr>
              <a:defRPr sz="1000">
                <a:solidFill>
                  <a:srgbClr val="5C4E3A"/>
                </a:solidFill>
                <a:latin typeface="Ink Free"/>
              </a:defRPr>
            </a:pPr>
            <a:r>
              <a:t>One origin, everywhere to reach: why graphs need compasses.</a:t>
            </a:r>
          </a:p>
        </p:txBody>
      </p:sp>
      <p:sp>
        <p:nvSpPr>
          <p:cNvPr id="23" name="Rounded Rectangle 22"/>
          <p:cNvSpPr/>
          <p:nvPr/>
        </p:nvSpPr>
        <p:spPr>
          <a:xfrm rot="60000">
            <a:off x="4370832" y="2395728"/>
            <a:ext cx="3154680" cy="105156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24688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5C3E"/>
                </a:solidFill>
                <a:latin typeface="Ink Free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2450592"/>
            <a:ext cx="2441448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C2416"/>
                </a:solidFill>
                <a:latin typeface="Ink Free"/>
              </a:defRPr>
            </a:pPr>
            <a:r>
              <a:t>Algorithm Spectrum</a:t>
            </a:r>
          </a:p>
          <a:p>
            <a:pPr>
              <a:defRPr sz="1000">
                <a:solidFill>
                  <a:srgbClr val="5C4E3A"/>
                </a:solidFill>
                <a:latin typeface="Ink Free"/>
              </a:defRPr>
            </a:pPr>
            <a:r>
              <a:t>Dijkstra vs. BFS vs. Bellman-Ford vs. A* Search.</a:t>
            </a:r>
          </a:p>
        </p:txBody>
      </p:sp>
      <p:sp>
        <p:nvSpPr>
          <p:cNvPr id="26" name="Rounded Rectangle 25"/>
          <p:cNvSpPr/>
          <p:nvPr/>
        </p:nvSpPr>
        <p:spPr>
          <a:xfrm rot="21540000">
            <a:off x="7781544" y="2395728"/>
            <a:ext cx="3154680" cy="105156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91272" y="24688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5C3E"/>
                </a:solidFill>
                <a:latin typeface="Ink Free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2450592"/>
            <a:ext cx="2441448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C2416"/>
                </a:solidFill>
                <a:latin typeface="Ink Free"/>
              </a:defRPr>
            </a:pPr>
            <a:r>
              <a:t>Greedy Philosophy</a:t>
            </a:r>
          </a:p>
          <a:p>
            <a:pPr>
              <a:defRPr sz="1000">
                <a:solidFill>
                  <a:srgbClr val="5C4E3A"/>
                </a:solidFill>
                <a:latin typeface="Ink Free"/>
              </a:defRPr>
            </a:pPr>
            <a:r>
              <a:t>Always trust the closest unvisited node — lock it in forever.</a:t>
            </a:r>
          </a:p>
        </p:txBody>
      </p:sp>
      <p:sp>
        <p:nvSpPr>
          <p:cNvPr id="29" name="Rounded Rectangle 28"/>
          <p:cNvSpPr/>
          <p:nvPr/>
        </p:nvSpPr>
        <p:spPr>
          <a:xfrm rot="60000">
            <a:off x="960120" y="3611880"/>
            <a:ext cx="3154680" cy="105156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9848" y="3685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5C3E"/>
                </a:solidFill>
                <a:latin typeface="Ink Free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3666744"/>
            <a:ext cx="2441448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C2416"/>
                </a:solidFill>
                <a:latin typeface="Ink Free"/>
              </a:defRPr>
            </a:pPr>
            <a:r>
              <a:t>Data Structures &amp; Kit</a:t>
            </a:r>
          </a:p>
          <a:p>
            <a:pPr>
              <a:defRPr sz="1000">
                <a:solidFill>
                  <a:srgbClr val="5C4E3A"/>
                </a:solidFill>
                <a:latin typeface="Ink Free"/>
              </a:defRPr>
            </a:pPr>
            <a:r>
              <a:t>Distances, visited set, and the almighty priority queue.</a:t>
            </a:r>
          </a:p>
        </p:txBody>
      </p:sp>
      <p:sp>
        <p:nvSpPr>
          <p:cNvPr id="32" name="Rounded Rectangle 31"/>
          <p:cNvSpPr/>
          <p:nvPr/>
        </p:nvSpPr>
        <p:spPr>
          <a:xfrm rot="21540000">
            <a:off x="4370832" y="3611880"/>
            <a:ext cx="3154680" cy="105156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80560" y="3685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5C3E"/>
                </a:solidFill>
                <a:latin typeface="Ink Free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3666744"/>
            <a:ext cx="2441448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C2416"/>
                </a:solidFill>
                <a:latin typeface="Ink Free"/>
              </a:defRPr>
            </a:pPr>
            <a:r>
              <a:t>Edge Relaxation</a:t>
            </a:r>
          </a:p>
          <a:p>
            <a:pPr>
              <a:defRPr sz="1000">
                <a:solidFill>
                  <a:srgbClr val="5C4E3A"/>
                </a:solidFill>
                <a:latin typeface="Ink Free"/>
              </a:defRPr>
            </a:pPr>
            <a:r>
              <a:t>Discovering a shortcut and celebrating with math.</a:t>
            </a:r>
          </a:p>
        </p:txBody>
      </p:sp>
      <p:sp>
        <p:nvSpPr>
          <p:cNvPr id="35" name="Rounded Rectangle 34"/>
          <p:cNvSpPr/>
          <p:nvPr/>
        </p:nvSpPr>
        <p:spPr>
          <a:xfrm rot="60000">
            <a:off x="7781544" y="3611880"/>
            <a:ext cx="3154680" cy="105156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91272" y="3685032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5C3E"/>
                </a:solidFill>
                <a:latin typeface="Ink Free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1624" y="3666744"/>
            <a:ext cx="2441448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C2416"/>
                </a:solidFill>
                <a:latin typeface="Ink Free"/>
              </a:defRPr>
            </a:pPr>
            <a:r>
              <a:t>Step-by-Step Trace</a:t>
            </a:r>
          </a:p>
          <a:p>
            <a:pPr>
              <a:defRPr sz="1000">
                <a:solidFill>
                  <a:srgbClr val="5C4E3A"/>
                </a:solidFill>
                <a:latin typeface="Ink Free"/>
              </a:defRPr>
            </a:pPr>
            <a:r>
              <a:t>Walking through a 5-node graph with zero panic.</a:t>
            </a:r>
          </a:p>
        </p:txBody>
      </p:sp>
      <p:sp>
        <p:nvSpPr>
          <p:cNvPr id="38" name="Rounded Rectangle 37"/>
          <p:cNvSpPr/>
          <p:nvPr/>
        </p:nvSpPr>
        <p:spPr>
          <a:xfrm rot="21540000">
            <a:off x="960120" y="4828031"/>
            <a:ext cx="3154680" cy="105156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" y="4901183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5C3E"/>
                </a:solidFill>
                <a:latin typeface="Ink Free"/>
              </a:defRPr>
            </a:pPr>
            <a: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82895"/>
            <a:ext cx="2441448" cy="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C2416"/>
                </a:solidFill>
                <a:latin typeface="Ink Free"/>
              </a:defRPr>
            </a:pPr>
            <a:r>
              <a:t>Complexity &amp; Impact</a:t>
            </a:r>
          </a:p>
          <a:p>
            <a:pPr>
              <a:defRPr sz="1000">
                <a:solidFill>
                  <a:srgbClr val="5C4E3A"/>
                </a:solidFill>
                <a:latin typeface="Ink Free"/>
              </a:defRPr>
            </a:pPr>
            <a:r>
              <a:t>Arrays, min-heaps, GPS routing, and the negative edge trap.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03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"The shortest path between two points is rarely a straight line when mountains exist."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40000">
            <a:off x="960120" y="548640"/>
            <a:ext cx="3657600" cy="256032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a 60-second recap, because context is 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2C2416"/>
                </a:solidFill>
                <a:latin typeface="Ink Free"/>
              </a:defRPr>
            </a:pPr>
            <a:r>
              <a:t>First: why do graphs need navigation?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5102352" cy="58436"/>
          </a:xfrm>
          <a:custGeom>
            <a:avLst/>
            <a:gdLst/>
            <a:ahLst/>
            <a:cxnLst/>
            <a:rect l="l" t="t" r="r" b="b"/>
            <a:pathLst>
              <a:path w="5102352" h="58436">
                <a:moveTo>
                  <a:pt x="0" y="29249"/>
                </a:moveTo>
                <a:lnTo>
                  <a:pt x="182226" y="49194"/>
                </a:lnTo>
                <a:lnTo>
                  <a:pt x="364453" y="58436"/>
                </a:lnTo>
                <a:lnTo>
                  <a:pt x="546680" y="52016"/>
                </a:lnTo>
                <a:lnTo>
                  <a:pt x="728907" y="33378"/>
                </a:lnTo>
                <a:lnTo>
                  <a:pt x="911134" y="12524"/>
                </a:lnTo>
                <a:lnTo>
                  <a:pt x="1093361" y="645"/>
                </a:lnTo>
                <a:lnTo>
                  <a:pt x="1275588" y="4115"/>
                </a:lnTo>
                <a:lnTo>
                  <a:pt x="1457814" y="21073"/>
                </a:lnTo>
                <a:lnTo>
                  <a:pt x="1640041" y="42417"/>
                </a:lnTo>
                <a:lnTo>
                  <a:pt x="1822268" y="56695"/>
                </a:lnTo>
                <a:lnTo>
                  <a:pt x="2004495" y="56245"/>
                </a:lnTo>
                <a:lnTo>
                  <a:pt x="2186722" y="41307"/>
                </a:lnTo>
                <a:lnTo>
                  <a:pt x="2368949" y="19899"/>
                </a:lnTo>
                <a:lnTo>
                  <a:pt x="2551176" y="3508"/>
                </a:lnTo>
                <a:lnTo>
                  <a:pt x="2733402" y="930"/>
                </a:lnTo>
                <a:lnTo>
                  <a:pt x="2915629" y="13548"/>
                </a:lnTo>
                <a:lnTo>
                  <a:pt x="3097856" y="34591"/>
                </a:lnTo>
                <a:lnTo>
                  <a:pt x="3280083" y="52768"/>
                </a:lnTo>
                <a:lnTo>
                  <a:pt x="3462310" y="58323"/>
                </a:lnTo>
                <a:lnTo>
                  <a:pt x="3644537" y="48276"/>
                </a:lnTo>
                <a:lnTo>
                  <a:pt x="3826764" y="28019"/>
                </a:lnTo>
                <a:lnTo>
                  <a:pt x="4008990" y="8421"/>
                </a:lnTo>
                <a:lnTo>
                  <a:pt x="4191217" y="0"/>
                </a:lnTo>
                <a:lnTo>
                  <a:pt x="4373444" y="7274"/>
                </a:lnTo>
                <a:lnTo>
                  <a:pt x="4555671" y="26340"/>
                </a:lnTo>
                <a:lnTo>
                  <a:pt x="4737898" y="46967"/>
                </a:lnTo>
                <a:lnTo>
                  <a:pt x="4920125" y="58086"/>
                </a:lnTo>
                <a:lnTo>
                  <a:pt x="5102352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52000">
            <a:off x="960120" y="1609344"/>
            <a:ext cx="5669280" cy="621792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A graph has vertices (places) and weighted edges (costs). We want the lowest total cost from one start to all other nodes.</a:t>
            </a:r>
          </a:p>
        </p:txBody>
      </p:sp>
      <p:sp>
        <p:nvSpPr>
          <p:cNvPr id="19" name="Rectangle 18"/>
          <p:cNvSpPr/>
          <p:nvPr/>
        </p:nvSpPr>
        <p:spPr>
          <a:xfrm rot="21552000">
            <a:off x="324612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/>
          <p:cNvSpPr/>
          <p:nvPr/>
        </p:nvSpPr>
        <p:spPr>
          <a:xfrm>
            <a:off x="960120" y="2468879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9576" y="2423160"/>
            <a:ext cx="5449824" cy="79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Weighted edges as real friction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Edges carry weights: road mileage, fiber latency, flight ticket prices, or energy expended. Cheaper is always better.</a:t>
            </a:r>
          </a:p>
        </p:txBody>
      </p:sp>
      <p:sp>
        <p:nvSpPr>
          <p:cNvPr id="22" name="Diamond 21"/>
          <p:cNvSpPr/>
          <p:nvPr/>
        </p:nvSpPr>
        <p:spPr>
          <a:xfrm>
            <a:off x="960120" y="3261360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9576" y="3215640"/>
            <a:ext cx="5449824" cy="79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Single-source vs. all-pairs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Dijkstra solves Single-Source Shortest Paths (SSSP): you pick one hometown vertex, and it computes optimal paths to every reachable vertex in the universe.</a:t>
            </a:r>
          </a:p>
        </p:txBody>
      </p:sp>
      <p:sp>
        <p:nvSpPr>
          <p:cNvPr id="24" name="Diamond 23"/>
          <p:cNvSpPr/>
          <p:nvPr/>
        </p:nvSpPr>
        <p:spPr>
          <a:xfrm>
            <a:off x="960120" y="4053839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9576" y="4008119"/>
            <a:ext cx="5449824" cy="79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Why brute force dies a painful death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Checking every permutation of paths across a graph leads to exponential factorial explosion. You need a disciplined pruning strategy.</a:t>
            </a:r>
          </a:p>
        </p:txBody>
      </p:sp>
      <p:sp>
        <p:nvSpPr>
          <p:cNvPr id="26" name="Rectangle 25"/>
          <p:cNvSpPr/>
          <p:nvPr/>
        </p:nvSpPr>
        <p:spPr>
          <a:xfrm rot="120000">
            <a:off x="7040880" y="960120"/>
            <a:ext cx="4023360" cy="420624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dijkstra_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205472" y="1124712"/>
            <a:ext cx="3694176" cy="354787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 rot="120000">
            <a:off x="7205472" y="1124712"/>
            <a:ext cx="3694176" cy="354787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 rot="21360000">
            <a:off x="7315200" y="86868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 rot="480000">
            <a:off x="9784080" y="86868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 rot="120000">
            <a:off x="7178040" y="4709159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Searching without an algorithm is just walking around in circles.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04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"Bellman-Ford tolerates debt. Dijkstra demands non-negative cash upfront."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40000">
            <a:off x="960120" y="548640"/>
            <a:ext cx="3474720" cy="256032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topic 1  ·  Pathfinding algorithms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C2416"/>
                </a:solidFill>
                <a:latin typeface="Ink Free"/>
              </a:defRPr>
            </a:pPr>
            <a:r>
              <a:t>Pick your pathfinding flavor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3950208" cy="58436"/>
          </a:xfrm>
          <a:custGeom>
            <a:avLst/>
            <a:gdLst/>
            <a:ahLst/>
            <a:cxnLst/>
            <a:rect l="l" t="t" r="r" b="b"/>
            <a:pathLst>
              <a:path w="3950208" h="58436">
                <a:moveTo>
                  <a:pt x="0" y="29249"/>
                </a:moveTo>
                <a:lnTo>
                  <a:pt x="141078" y="49194"/>
                </a:lnTo>
                <a:lnTo>
                  <a:pt x="282157" y="58436"/>
                </a:lnTo>
                <a:lnTo>
                  <a:pt x="423236" y="52016"/>
                </a:lnTo>
                <a:lnTo>
                  <a:pt x="564315" y="33378"/>
                </a:lnTo>
                <a:lnTo>
                  <a:pt x="705394" y="12524"/>
                </a:lnTo>
                <a:lnTo>
                  <a:pt x="846473" y="645"/>
                </a:lnTo>
                <a:lnTo>
                  <a:pt x="987552" y="4115"/>
                </a:lnTo>
                <a:lnTo>
                  <a:pt x="1128630" y="21073"/>
                </a:lnTo>
                <a:lnTo>
                  <a:pt x="1269709" y="42417"/>
                </a:lnTo>
                <a:lnTo>
                  <a:pt x="1410788" y="56695"/>
                </a:lnTo>
                <a:lnTo>
                  <a:pt x="1551867" y="56245"/>
                </a:lnTo>
                <a:lnTo>
                  <a:pt x="1692946" y="41307"/>
                </a:lnTo>
                <a:lnTo>
                  <a:pt x="1834025" y="19899"/>
                </a:lnTo>
                <a:lnTo>
                  <a:pt x="1975104" y="3508"/>
                </a:lnTo>
                <a:lnTo>
                  <a:pt x="2116182" y="930"/>
                </a:lnTo>
                <a:lnTo>
                  <a:pt x="2257261" y="13548"/>
                </a:lnTo>
                <a:lnTo>
                  <a:pt x="2398340" y="34591"/>
                </a:lnTo>
                <a:lnTo>
                  <a:pt x="2539419" y="52768"/>
                </a:lnTo>
                <a:lnTo>
                  <a:pt x="2680498" y="58323"/>
                </a:lnTo>
                <a:lnTo>
                  <a:pt x="2821577" y="48276"/>
                </a:lnTo>
                <a:lnTo>
                  <a:pt x="2962656" y="28019"/>
                </a:lnTo>
                <a:lnTo>
                  <a:pt x="3103734" y="8421"/>
                </a:lnTo>
                <a:lnTo>
                  <a:pt x="3244813" y="0"/>
                </a:lnTo>
                <a:lnTo>
                  <a:pt x="3385892" y="7274"/>
                </a:lnTo>
                <a:lnTo>
                  <a:pt x="3526971" y="26340"/>
                </a:lnTo>
                <a:lnTo>
                  <a:pt x="3668050" y="46967"/>
                </a:lnTo>
                <a:lnTo>
                  <a:pt x="3809129" y="58086"/>
                </a:lnTo>
                <a:lnTo>
                  <a:pt x="3950208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52000">
            <a:off x="960120" y="1609344"/>
            <a:ext cx="5669280" cy="749808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BFS, Dijkstra, Bellman-Ford, and A*: choosing your pathfinder depends on edge weights, negative cycles, and whether you have a map compass.</a:t>
            </a:r>
          </a:p>
        </p:txBody>
      </p:sp>
      <p:sp>
        <p:nvSpPr>
          <p:cNvPr id="19" name="Rectangle 18"/>
          <p:cNvSpPr/>
          <p:nvPr/>
        </p:nvSpPr>
        <p:spPr>
          <a:xfrm rot="21552000">
            <a:off x="324612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 rot="21540000">
            <a:off x="960120" y="2523744"/>
            <a:ext cx="2697480" cy="2377440"/>
          </a:xfrm>
          <a:prstGeom prst="rect">
            <a:avLst/>
          </a:prstGeom>
          <a:solidFill>
            <a:srgbClr val="F5DFD7"/>
          </a:solidFill>
          <a:ln w="12700">
            <a:solidFill>
              <a:srgbClr val="E0C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28016" rIns="137160" bIns="91440" rtlCol="0" anchor="ctr"/>
          <a:lstStyle/>
          <a:p>
            <a:pPr algn="ctr">
              <a:spcAft>
                <a:spcPts val="400"/>
              </a:spcAft>
              <a:defRPr sz="1500" b="1">
                <a:solidFill>
                  <a:srgbClr val="8E3D28"/>
                </a:solidFill>
                <a:latin typeface="Ink Free"/>
              </a:defRPr>
            </a:pPr>
            <a:r>
              <a:t>Dijkstra's Algorithm</a:t>
            </a:r>
          </a:p>
          <a:p>
            <a:pPr>
              <a:spcAft>
                <a:spcPts val="200"/>
              </a:spcAft>
              <a:defRPr sz="1050">
                <a:solidFill>
                  <a:srgbClr val="2C2416"/>
                </a:solidFill>
                <a:latin typeface="Ink Free"/>
              </a:defRPr>
            </a:pPr>
            <a:r>
              <a:t>·  Non-negative weighted edges (weights w ≥ 0).</a:t>
            </a:r>
          </a:p>
          <a:p>
            <a:pPr>
              <a:spcAft>
                <a:spcPts val="200"/>
              </a:spcAft>
              <a:defRPr sz="1050">
                <a:solidFill>
                  <a:srgbClr val="2C2416"/>
                </a:solidFill>
                <a:latin typeface="Ink Free"/>
              </a:defRPr>
            </a:pPr>
            <a:r>
              <a:t>·  Greedy selection: locks in closest unvisited node permanently.</a:t>
            </a:r>
          </a:p>
          <a:p>
            <a:pPr>
              <a:spcAft>
                <a:spcPts val="200"/>
              </a:spcAft>
              <a:defRPr sz="1050">
                <a:solidFill>
                  <a:srgbClr val="2C2416"/>
                </a:solidFill>
                <a:latin typeface="Ink Free"/>
              </a:defRPr>
            </a:pPr>
            <a:r>
              <a:t>·  Fast &amp; optimal: O((V + E) log V) with a binary min-heap.</a:t>
            </a:r>
          </a:p>
          <a:p>
            <a:pPr>
              <a:spcAft>
                <a:spcPts val="200"/>
              </a:spcAft>
              <a:defRPr sz="1050">
                <a:solidFill>
                  <a:srgbClr val="2C2416"/>
                </a:solidFill>
                <a:latin typeface="Ink Free"/>
              </a:defRPr>
            </a:pPr>
            <a:r>
              <a:t>·  Radial search: explores equally in all directions without a compass.</a:t>
            </a:r>
          </a:p>
        </p:txBody>
      </p:sp>
      <p:sp>
        <p:nvSpPr>
          <p:cNvPr id="21" name="Rectangle 20"/>
          <p:cNvSpPr/>
          <p:nvPr/>
        </p:nvSpPr>
        <p:spPr>
          <a:xfrm rot="21540000">
            <a:off x="1805940" y="2450591"/>
            <a:ext cx="100584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 rot="60000">
            <a:off x="3931920" y="2523744"/>
            <a:ext cx="2697480" cy="2377440"/>
          </a:xfrm>
          <a:prstGeom prst="rect">
            <a:avLst/>
          </a:prstGeom>
          <a:solidFill>
            <a:srgbClr val="E2EBE0"/>
          </a:solidFill>
          <a:ln w="12700">
            <a:solidFill>
              <a:srgbClr val="C6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28016" rIns="137160" bIns="91440" rtlCol="0" anchor="ctr"/>
          <a:lstStyle/>
          <a:p>
            <a:pPr algn="ctr">
              <a:spcAft>
                <a:spcPts val="400"/>
              </a:spcAft>
              <a:defRPr sz="1500" b="1">
                <a:solidFill>
                  <a:srgbClr val="3E5640"/>
                </a:solidFill>
                <a:latin typeface="Ink Free"/>
              </a:defRPr>
            </a:pPr>
            <a:r>
              <a:t>Bellman-Ford &amp; A*</a:t>
            </a:r>
          </a:p>
          <a:p>
            <a:pPr>
              <a:spcAft>
                <a:spcPts val="200"/>
              </a:spcAft>
              <a:defRPr sz="1050">
                <a:solidFill>
                  <a:srgbClr val="2C2416"/>
                </a:solidFill>
                <a:latin typeface="Ink Free"/>
              </a:defRPr>
            </a:pPr>
            <a:r>
              <a:t>·  Bellman-Ford handles negative edge weights &amp; detects negative cycles.</a:t>
            </a:r>
          </a:p>
          <a:p>
            <a:pPr>
              <a:spcAft>
                <a:spcPts val="200"/>
              </a:spcAft>
              <a:defRPr sz="1050">
                <a:solidFill>
                  <a:srgbClr val="2C2416"/>
                </a:solidFill>
                <a:latin typeface="Ink Free"/>
              </a:defRPr>
            </a:pPr>
            <a:r>
              <a:t>·  Bellman-Ford is slower: O(V · E), relaxing all edges V-1 times.</a:t>
            </a:r>
          </a:p>
          <a:p>
            <a:pPr>
              <a:spcAft>
                <a:spcPts val="200"/>
              </a:spcAft>
              <a:defRPr sz="1050">
                <a:solidFill>
                  <a:srgbClr val="2C2416"/>
                </a:solidFill>
                <a:latin typeface="Ink Free"/>
              </a:defRPr>
            </a:pPr>
            <a:r>
              <a:t>·  A* Search adds a goal-directed heuristic (h-score) to steer forward.</a:t>
            </a:r>
          </a:p>
          <a:p>
            <a:pPr>
              <a:spcAft>
                <a:spcPts val="200"/>
              </a:spcAft>
              <a:defRPr sz="1050">
                <a:solidFill>
                  <a:srgbClr val="2C2416"/>
                </a:solidFill>
                <a:latin typeface="Ink Free"/>
              </a:defRPr>
            </a:pPr>
            <a:r>
              <a:t>·  Unweighted BFS only works when all edge costs are identical (1).</a:t>
            </a:r>
          </a:p>
        </p:txBody>
      </p:sp>
      <p:sp>
        <p:nvSpPr>
          <p:cNvPr id="23" name="Rectangle 22"/>
          <p:cNvSpPr/>
          <p:nvPr/>
        </p:nvSpPr>
        <p:spPr>
          <a:xfrm rot="60000">
            <a:off x="4777740" y="2450591"/>
            <a:ext cx="100584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 rot="21240000">
            <a:off x="960120" y="5074920"/>
            <a:ext cx="1737360" cy="384048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NO NEGATIVES</a:t>
            </a:r>
          </a:p>
        </p:txBody>
      </p:sp>
      <p:sp>
        <p:nvSpPr>
          <p:cNvPr id="25" name="Rectangle 24"/>
          <p:cNvSpPr/>
          <p:nvPr/>
        </p:nvSpPr>
        <p:spPr>
          <a:xfrm rot="120000">
            <a:off x="7040880" y="960120"/>
            <a:ext cx="4023360" cy="420624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fo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205472" y="1124712"/>
            <a:ext cx="3694176" cy="354787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 rot="120000">
            <a:off x="7205472" y="1124712"/>
            <a:ext cx="3694176" cy="354787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 rot="21360000">
            <a:off x="7315200" y="86868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 rot="480000">
            <a:off x="9784080" y="86868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 rot="120000">
            <a:off x="7178040" y="4709159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Left path: greedy speed. Right path: negative weight insurance.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05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"Greed is good, provided every edge has a non-negative cost."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40000">
            <a:off x="960120" y="548640"/>
            <a:ext cx="3474720" cy="256032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topic 2  ·  The Greedy Philosophy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2C2416"/>
                </a:solidFill>
                <a:latin typeface="Ink Free"/>
              </a:defRPr>
            </a:pPr>
            <a:r>
              <a:t>The art of being unapologetically greedy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5486400" cy="58436"/>
          </a:xfrm>
          <a:custGeom>
            <a:avLst/>
            <a:gdLst/>
            <a:ahLst/>
            <a:cxnLst/>
            <a:rect l="l" t="t" r="r" b="b"/>
            <a:pathLst>
              <a:path w="5486400" h="58436">
                <a:moveTo>
                  <a:pt x="0" y="29249"/>
                </a:moveTo>
                <a:lnTo>
                  <a:pt x="195942" y="49194"/>
                </a:lnTo>
                <a:lnTo>
                  <a:pt x="391885" y="58436"/>
                </a:lnTo>
                <a:lnTo>
                  <a:pt x="587828" y="52016"/>
                </a:lnTo>
                <a:lnTo>
                  <a:pt x="783771" y="33378"/>
                </a:lnTo>
                <a:lnTo>
                  <a:pt x="979714" y="12524"/>
                </a:lnTo>
                <a:lnTo>
                  <a:pt x="1175657" y="645"/>
                </a:lnTo>
                <a:lnTo>
                  <a:pt x="1371600" y="4115"/>
                </a:lnTo>
                <a:lnTo>
                  <a:pt x="1567542" y="21073"/>
                </a:lnTo>
                <a:lnTo>
                  <a:pt x="1763485" y="42417"/>
                </a:lnTo>
                <a:lnTo>
                  <a:pt x="1959428" y="56695"/>
                </a:lnTo>
                <a:lnTo>
                  <a:pt x="2155371" y="56245"/>
                </a:lnTo>
                <a:lnTo>
                  <a:pt x="2351314" y="41307"/>
                </a:lnTo>
                <a:lnTo>
                  <a:pt x="2547257" y="19899"/>
                </a:lnTo>
                <a:lnTo>
                  <a:pt x="2743200" y="3508"/>
                </a:lnTo>
                <a:lnTo>
                  <a:pt x="2939142" y="930"/>
                </a:lnTo>
                <a:lnTo>
                  <a:pt x="3135085" y="13548"/>
                </a:lnTo>
                <a:lnTo>
                  <a:pt x="3331028" y="34591"/>
                </a:lnTo>
                <a:lnTo>
                  <a:pt x="3526971" y="52768"/>
                </a:lnTo>
                <a:lnTo>
                  <a:pt x="3722914" y="58323"/>
                </a:lnTo>
                <a:lnTo>
                  <a:pt x="3918857" y="48276"/>
                </a:lnTo>
                <a:lnTo>
                  <a:pt x="4114800" y="28019"/>
                </a:lnTo>
                <a:lnTo>
                  <a:pt x="4310742" y="8421"/>
                </a:lnTo>
                <a:lnTo>
                  <a:pt x="4506685" y="0"/>
                </a:lnTo>
                <a:lnTo>
                  <a:pt x="4702628" y="7274"/>
                </a:lnTo>
                <a:lnTo>
                  <a:pt x="4898571" y="26340"/>
                </a:lnTo>
                <a:lnTo>
                  <a:pt x="5094514" y="46967"/>
                </a:lnTo>
                <a:lnTo>
                  <a:pt x="5290457" y="58086"/>
                </a:lnTo>
                <a:lnTo>
                  <a:pt x="5486400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52000">
            <a:off x="960120" y="1609344"/>
            <a:ext cx="5669280" cy="658368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At every step, Dijkstra picks the unvisited vertex with the smallest tentative distance, marks it permanent, and never looks back.</a:t>
            </a:r>
          </a:p>
        </p:txBody>
      </p:sp>
      <p:sp>
        <p:nvSpPr>
          <p:cNvPr id="19" name="Rectangle 18"/>
          <p:cNvSpPr/>
          <p:nvPr/>
        </p:nvSpPr>
        <p:spPr>
          <a:xfrm rot="21552000">
            <a:off x="324612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/>
          <p:cNvSpPr/>
          <p:nvPr/>
        </p:nvSpPr>
        <p:spPr>
          <a:xfrm>
            <a:off x="960120" y="2468879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9576" y="2423160"/>
            <a:ext cx="5449824" cy="80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The permanent guarantee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Because all edge weights are ≥ 0, any alternative route to the current closest node must take extra steps through other nodes with greater or equal distances. It can never be shorter!</a:t>
            </a:r>
          </a:p>
        </p:txBody>
      </p:sp>
      <p:sp>
        <p:nvSpPr>
          <p:cNvPr id="22" name="Diamond 21"/>
          <p:cNvSpPr/>
          <p:nvPr/>
        </p:nvSpPr>
        <p:spPr>
          <a:xfrm>
            <a:off x="960120" y="3276599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9576" y="3230880"/>
            <a:ext cx="5449824" cy="80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No regrets, no backtracking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Once a vertex is marked visited (settled), its shortest path distance is carved in stone. We never re-evaluate it.</a:t>
            </a:r>
          </a:p>
        </p:txBody>
      </p:sp>
      <p:sp>
        <p:nvSpPr>
          <p:cNvPr id="24" name="Diamond 23"/>
          <p:cNvSpPr/>
          <p:nvPr/>
        </p:nvSpPr>
        <p:spPr>
          <a:xfrm>
            <a:off x="960120" y="4084319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9576" y="4038599"/>
            <a:ext cx="5449824" cy="80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The contract with reality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Greedy choice only holds when edge costs cannot decrease downstream. Negative weights void the entire warranty.</a:t>
            </a:r>
          </a:p>
        </p:txBody>
      </p:sp>
      <p:sp>
        <p:nvSpPr>
          <p:cNvPr id="26" name="Rectangle 25"/>
          <p:cNvSpPr/>
          <p:nvPr/>
        </p:nvSpPr>
        <p:spPr>
          <a:xfrm rot="21180000">
            <a:off x="960120" y="5029200"/>
            <a:ext cx="1828800" cy="384048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GREEDY CHOICE</a:t>
            </a:r>
          </a:p>
        </p:txBody>
      </p:sp>
      <p:sp>
        <p:nvSpPr>
          <p:cNvPr id="27" name="Rectangle 26"/>
          <p:cNvSpPr/>
          <p:nvPr/>
        </p:nvSpPr>
        <p:spPr>
          <a:xfrm rot="120000">
            <a:off x="7040880" y="960120"/>
            <a:ext cx="4023360" cy="420624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dijkstra_greed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205472" y="1124712"/>
            <a:ext cx="3694176" cy="35478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 rot="120000">
            <a:off x="7205472" y="1124712"/>
            <a:ext cx="3694176" cy="354787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 rot="21360000">
            <a:off x="7315200" y="86868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 rot="480000">
            <a:off x="9784080" y="86868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 rot="120000">
            <a:off x="7178040" y="4709159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Step onto the closest glowing stone. Trust the math completely.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06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"Initialize to infinity. A humble start for any hopeful path."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10000">
            <a:off x="960120" y="548640"/>
            <a:ext cx="4206240" cy="25603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anatomy hour  ·  the algorithm's data toolkit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2C2416"/>
                </a:solidFill>
                <a:latin typeface="Ink Free"/>
              </a:defRPr>
            </a:pPr>
            <a:r>
              <a:t>Peek inside the pathfinder's toolkit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4974336" cy="58436"/>
          </a:xfrm>
          <a:custGeom>
            <a:avLst/>
            <a:gdLst/>
            <a:ahLst/>
            <a:cxnLst/>
            <a:rect l="l" t="t" r="r" b="b"/>
            <a:pathLst>
              <a:path w="4974336" h="58436">
                <a:moveTo>
                  <a:pt x="0" y="29249"/>
                </a:moveTo>
                <a:lnTo>
                  <a:pt x="177654" y="49194"/>
                </a:lnTo>
                <a:lnTo>
                  <a:pt x="355309" y="58436"/>
                </a:lnTo>
                <a:lnTo>
                  <a:pt x="532964" y="52016"/>
                </a:lnTo>
                <a:lnTo>
                  <a:pt x="710619" y="33378"/>
                </a:lnTo>
                <a:lnTo>
                  <a:pt x="888274" y="12524"/>
                </a:lnTo>
                <a:lnTo>
                  <a:pt x="1065929" y="645"/>
                </a:lnTo>
                <a:lnTo>
                  <a:pt x="1243584" y="4115"/>
                </a:lnTo>
                <a:lnTo>
                  <a:pt x="1421238" y="21073"/>
                </a:lnTo>
                <a:lnTo>
                  <a:pt x="1598893" y="42417"/>
                </a:lnTo>
                <a:lnTo>
                  <a:pt x="1776548" y="56695"/>
                </a:lnTo>
                <a:lnTo>
                  <a:pt x="1954203" y="56245"/>
                </a:lnTo>
                <a:lnTo>
                  <a:pt x="2131858" y="41307"/>
                </a:lnTo>
                <a:lnTo>
                  <a:pt x="2309513" y="19899"/>
                </a:lnTo>
                <a:lnTo>
                  <a:pt x="2487168" y="3508"/>
                </a:lnTo>
                <a:lnTo>
                  <a:pt x="2664822" y="930"/>
                </a:lnTo>
                <a:lnTo>
                  <a:pt x="2842477" y="13548"/>
                </a:lnTo>
                <a:lnTo>
                  <a:pt x="3020132" y="34591"/>
                </a:lnTo>
                <a:lnTo>
                  <a:pt x="3197787" y="52768"/>
                </a:lnTo>
                <a:lnTo>
                  <a:pt x="3375442" y="58323"/>
                </a:lnTo>
                <a:lnTo>
                  <a:pt x="3553097" y="48276"/>
                </a:lnTo>
                <a:lnTo>
                  <a:pt x="3730752" y="28019"/>
                </a:lnTo>
                <a:lnTo>
                  <a:pt x="3908406" y="8421"/>
                </a:lnTo>
                <a:lnTo>
                  <a:pt x="4086061" y="0"/>
                </a:lnTo>
                <a:lnTo>
                  <a:pt x="4263716" y="7274"/>
                </a:lnTo>
                <a:lnTo>
                  <a:pt x="4441371" y="26340"/>
                </a:lnTo>
                <a:lnTo>
                  <a:pt x="4619026" y="46967"/>
                </a:lnTo>
                <a:lnTo>
                  <a:pt x="4796681" y="58086"/>
                </a:lnTo>
                <a:lnTo>
                  <a:pt x="4974336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70000">
            <a:off x="960120" y="1609344"/>
            <a:ext cx="9966960" cy="548640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Distance table + visited set + priority queue. That's the entire engine. Everything else is just bookkeeping.</a:t>
            </a:r>
          </a:p>
        </p:txBody>
      </p:sp>
      <p:sp>
        <p:nvSpPr>
          <p:cNvPr id="19" name="Rectangle 18"/>
          <p:cNvSpPr/>
          <p:nvPr/>
        </p:nvSpPr>
        <p:spPr>
          <a:xfrm rot="21570000">
            <a:off x="539496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" y="2331720"/>
            <a:ext cx="3108960" cy="1005840"/>
          </a:xfrm>
          <a:prstGeom prst="roundRect">
            <a:avLst/>
          </a:prstGeom>
          <a:solidFill>
            <a:srgbClr val="EFE4B8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1. Distance Array dist[]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Tracks tentative shortest distances from source. Starts at 0 for source, ∞ for all others.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331720"/>
            <a:ext cx="3108960" cy="1005840"/>
          </a:xfrm>
          <a:prstGeom prst="roundRect">
            <a:avLst/>
          </a:prstGeom>
          <a:solidFill>
            <a:srgbClr val="5E7A58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BF6EA"/>
                </a:solidFill>
                <a:latin typeface="Ink Free"/>
              </a:defRPr>
            </a:pPr>
            <a:r>
              <a:t>2. Visited Set visited[]</a:t>
            </a:r>
          </a:p>
          <a:p>
            <a:pPr>
              <a:defRPr sz="1050">
                <a:solidFill>
                  <a:srgbClr val="FBF6EA"/>
                </a:solidFill>
                <a:latin typeface="Ink Free"/>
              </a:defRPr>
            </a:pPr>
            <a:r>
              <a:t>Boolean set of finalized vertices whose shortest paths are permanently locked 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331720"/>
            <a:ext cx="3108960" cy="1005840"/>
          </a:xfrm>
          <a:prstGeom prst="roundRect">
            <a:avLst/>
          </a:prstGeom>
          <a:solidFill>
            <a:srgbClr val="C45C3E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BF6EA"/>
                </a:solidFill>
                <a:latin typeface="Ink Free"/>
              </a:defRPr>
            </a:pPr>
            <a:r>
              <a:t>3. Priority Queue PQ</a:t>
            </a:r>
          </a:p>
          <a:p>
            <a:pPr>
              <a:defRPr sz="1050">
                <a:solidFill>
                  <a:srgbClr val="FBF6EA"/>
                </a:solidFill>
                <a:latin typeface="Ink Free"/>
              </a:defRPr>
            </a:pPr>
            <a:r>
              <a:t>Min-heap extracting vertex with minimum tentative distance in O(log V)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3520440"/>
            <a:ext cx="3108960" cy="100584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4. Parent Array parent[]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Stores predecessor vertex on shortest path. Essential for reconstructing the actual path.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520440"/>
            <a:ext cx="3108960" cy="100584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5. Adjacency List adj[]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Stores neighbors and edge weights: adj[u] = [(v, cost), ...]. Memory-efficient graph model.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3520440"/>
            <a:ext cx="3108960" cy="100584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6. Relaxation Logic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If dist[u] + weight(u, v) &lt; dist[v], update dist[v] and push (dist[v], v) into PQ.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7548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C4E3A"/>
                </a:solidFill>
                <a:latin typeface="Ink Free"/>
              </a:defRPr>
            </a:pPr>
            <a:r>
              <a:t>Dijkstra's algorithm orchestrates three simple structures. The distance array keeps score, the priority queue picks the next champion, and the relaxation formula updates tentative promises until every reachable node is settled.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07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"To travel the world, first accept that everywhere else starts at infinity."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40000">
            <a:off x="960120" y="548640"/>
            <a:ext cx="3657600" cy="256032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topic 3  ·  Data structures &amp;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2C2416"/>
                </a:solidFill>
                <a:latin typeface="Ink Free"/>
              </a:defRPr>
            </a:pPr>
            <a:r>
              <a:t>Setting up the board before the walk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4974336" cy="58436"/>
          </a:xfrm>
          <a:custGeom>
            <a:avLst/>
            <a:gdLst/>
            <a:ahLst/>
            <a:cxnLst/>
            <a:rect l="l" t="t" r="r" b="b"/>
            <a:pathLst>
              <a:path w="4974336" h="58436">
                <a:moveTo>
                  <a:pt x="0" y="29249"/>
                </a:moveTo>
                <a:lnTo>
                  <a:pt x="177654" y="49194"/>
                </a:lnTo>
                <a:lnTo>
                  <a:pt x="355309" y="58436"/>
                </a:lnTo>
                <a:lnTo>
                  <a:pt x="532964" y="52016"/>
                </a:lnTo>
                <a:lnTo>
                  <a:pt x="710619" y="33378"/>
                </a:lnTo>
                <a:lnTo>
                  <a:pt x="888274" y="12524"/>
                </a:lnTo>
                <a:lnTo>
                  <a:pt x="1065929" y="645"/>
                </a:lnTo>
                <a:lnTo>
                  <a:pt x="1243584" y="4115"/>
                </a:lnTo>
                <a:lnTo>
                  <a:pt x="1421238" y="21073"/>
                </a:lnTo>
                <a:lnTo>
                  <a:pt x="1598893" y="42417"/>
                </a:lnTo>
                <a:lnTo>
                  <a:pt x="1776548" y="56695"/>
                </a:lnTo>
                <a:lnTo>
                  <a:pt x="1954203" y="56245"/>
                </a:lnTo>
                <a:lnTo>
                  <a:pt x="2131858" y="41307"/>
                </a:lnTo>
                <a:lnTo>
                  <a:pt x="2309513" y="19899"/>
                </a:lnTo>
                <a:lnTo>
                  <a:pt x="2487168" y="3508"/>
                </a:lnTo>
                <a:lnTo>
                  <a:pt x="2664822" y="930"/>
                </a:lnTo>
                <a:lnTo>
                  <a:pt x="2842477" y="13548"/>
                </a:lnTo>
                <a:lnTo>
                  <a:pt x="3020132" y="34591"/>
                </a:lnTo>
                <a:lnTo>
                  <a:pt x="3197787" y="52768"/>
                </a:lnTo>
                <a:lnTo>
                  <a:pt x="3375442" y="58323"/>
                </a:lnTo>
                <a:lnTo>
                  <a:pt x="3553097" y="48276"/>
                </a:lnTo>
                <a:lnTo>
                  <a:pt x="3730752" y="28019"/>
                </a:lnTo>
                <a:lnTo>
                  <a:pt x="3908406" y="8421"/>
                </a:lnTo>
                <a:lnTo>
                  <a:pt x="4086061" y="0"/>
                </a:lnTo>
                <a:lnTo>
                  <a:pt x="4263716" y="7274"/>
                </a:lnTo>
                <a:lnTo>
                  <a:pt x="4441371" y="26340"/>
                </a:lnTo>
                <a:lnTo>
                  <a:pt x="4619026" y="46967"/>
                </a:lnTo>
                <a:lnTo>
                  <a:pt x="4796681" y="58086"/>
                </a:lnTo>
                <a:lnTo>
                  <a:pt x="4974336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52000">
            <a:off x="960120" y="1609344"/>
            <a:ext cx="5669280" cy="594360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Before the first step, every destination is an infinite mystery, and our starting spot is completely free.</a:t>
            </a:r>
          </a:p>
        </p:txBody>
      </p:sp>
      <p:sp>
        <p:nvSpPr>
          <p:cNvPr id="19" name="Rectangle 18"/>
          <p:cNvSpPr/>
          <p:nvPr/>
        </p:nvSpPr>
        <p:spPr>
          <a:xfrm rot="21552000">
            <a:off x="324612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" y="2359152"/>
            <a:ext cx="2743200" cy="114300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1. Source Vertex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dist[source] = 0. Standing on your own doorstep costs zero gas money.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2359152"/>
            <a:ext cx="2743200" cy="1143000"/>
          </a:xfrm>
          <a:prstGeom prst="roundRect">
            <a:avLst/>
          </a:prstGeom>
          <a:solidFill>
            <a:srgbClr val="EFE4B8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2. The Uncharted World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dist[v] = ∞ for all v ≠ source. We assume unreachable until proven otherwise.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3639312"/>
            <a:ext cx="2743200" cy="114300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3. The Min-Heap Queue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PQ.insert((0, source)). Priority queue orders nodes by tentative distance.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3639312"/>
            <a:ext cx="2743200" cy="1143000"/>
          </a:xfrm>
          <a:prstGeom prst="roundRect">
            <a:avLst/>
          </a:prstGeom>
          <a:solidFill>
            <a:srgbClr val="EFE4B8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4. Empty Visited Set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visited = {}. No vertex is settled until extracted from the priority queue.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919472"/>
            <a:ext cx="2743200" cy="114300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5. Breadcrumb Pointers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parent[v] = NIL for all v. Path will be rebuilt backwards from destination.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86200" y="4919472"/>
            <a:ext cx="2743200" cy="1143000"/>
          </a:xfrm>
          <a:prstGeom prst="roundRect">
            <a:avLst/>
          </a:prstGeom>
          <a:solidFill>
            <a:srgbClr val="EFE4B8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6. Non-Negative Weights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Every edge must satisfy weight(u, v) ≥ 0. Zero is fine; negative is forbidden.</a:t>
            </a:r>
          </a:p>
        </p:txBody>
      </p:sp>
      <p:sp>
        <p:nvSpPr>
          <p:cNvPr id="26" name="Rectangle 25"/>
          <p:cNvSpPr/>
          <p:nvPr/>
        </p:nvSpPr>
        <p:spPr>
          <a:xfrm rot="120000">
            <a:off x="7040880" y="960120"/>
            <a:ext cx="4023360" cy="420624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pipel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205472" y="1124712"/>
            <a:ext cx="3694176" cy="354787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 rot="120000">
            <a:off x="7205472" y="1124712"/>
            <a:ext cx="3694176" cy="354787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 rot="21360000">
            <a:off x="7315200" y="86868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 rot="480000">
            <a:off x="9784080" y="86868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 rot="120000">
            <a:off x="7178040" y="4709159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Left to right: origin, priority heap, relaxation, settled path.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08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"Relaxation in computer science does not involve spas. It involves arithmetic."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40000">
            <a:off x="960120" y="548640"/>
            <a:ext cx="3474720" cy="256032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topic 4  ·  The relaxation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2C2416"/>
                </a:solidFill>
                <a:latin typeface="Ink Free"/>
              </a:defRPr>
            </a:pPr>
            <a:r>
              <a:t>How a shortcut gets officially adopted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5230368" cy="58436"/>
          </a:xfrm>
          <a:custGeom>
            <a:avLst/>
            <a:gdLst/>
            <a:ahLst/>
            <a:cxnLst/>
            <a:rect l="l" t="t" r="r" b="b"/>
            <a:pathLst>
              <a:path w="5230368" h="58436">
                <a:moveTo>
                  <a:pt x="0" y="29249"/>
                </a:moveTo>
                <a:lnTo>
                  <a:pt x="186798" y="49194"/>
                </a:lnTo>
                <a:lnTo>
                  <a:pt x="373597" y="58436"/>
                </a:lnTo>
                <a:lnTo>
                  <a:pt x="560396" y="52016"/>
                </a:lnTo>
                <a:lnTo>
                  <a:pt x="747195" y="33378"/>
                </a:lnTo>
                <a:lnTo>
                  <a:pt x="933994" y="12524"/>
                </a:lnTo>
                <a:lnTo>
                  <a:pt x="1120793" y="645"/>
                </a:lnTo>
                <a:lnTo>
                  <a:pt x="1307592" y="4115"/>
                </a:lnTo>
                <a:lnTo>
                  <a:pt x="1494390" y="21073"/>
                </a:lnTo>
                <a:lnTo>
                  <a:pt x="1681189" y="42417"/>
                </a:lnTo>
                <a:lnTo>
                  <a:pt x="1867988" y="56695"/>
                </a:lnTo>
                <a:lnTo>
                  <a:pt x="2054787" y="56245"/>
                </a:lnTo>
                <a:lnTo>
                  <a:pt x="2241586" y="41307"/>
                </a:lnTo>
                <a:lnTo>
                  <a:pt x="2428385" y="19899"/>
                </a:lnTo>
                <a:lnTo>
                  <a:pt x="2615184" y="3508"/>
                </a:lnTo>
                <a:lnTo>
                  <a:pt x="2801982" y="930"/>
                </a:lnTo>
                <a:lnTo>
                  <a:pt x="2988781" y="13548"/>
                </a:lnTo>
                <a:lnTo>
                  <a:pt x="3175580" y="34591"/>
                </a:lnTo>
                <a:lnTo>
                  <a:pt x="3362379" y="52768"/>
                </a:lnTo>
                <a:lnTo>
                  <a:pt x="3549178" y="58323"/>
                </a:lnTo>
                <a:lnTo>
                  <a:pt x="3735977" y="48276"/>
                </a:lnTo>
                <a:lnTo>
                  <a:pt x="3922776" y="28019"/>
                </a:lnTo>
                <a:lnTo>
                  <a:pt x="4109574" y="8421"/>
                </a:lnTo>
                <a:lnTo>
                  <a:pt x="4296373" y="0"/>
                </a:lnTo>
                <a:lnTo>
                  <a:pt x="4483172" y="7274"/>
                </a:lnTo>
                <a:lnTo>
                  <a:pt x="4669971" y="26340"/>
                </a:lnTo>
                <a:lnTo>
                  <a:pt x="4856770" y="46967"/>
                </a:lnTo>
                <a:lnTo>
                  <a:pt x="5043569" y="58086"/>
                </a:lnTo>
                <a:lnTo>
                  <a:pt x="5230368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52000">
            <a:off x="960120" y="1609344"/>
            <a:ext cx="5669280" cy="640080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Relaxation is the moment you discover: 'Wait, walking through node U to get to V is cheaper than the path I had before!'</a:t>
            </a:r>
          </a:p>
        </p:txBody>
      </p:sp>
      <p:sp>
        <p:nvSpPr>
          <p:cNvPr id="19" name="Rectangle 18"/>
          <p:cNvSpPr/>
          <p:nvPr/>
        </p:nvSpPr>
        <p:spPr>
          <a:xfrm rot="21552000">
            <a:off x="324612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/>
          <p:cNvSpPr/>
          <p:nvPr/>
        </p:nvSpPr>
        <p:spPr>
          <a:xfrm>
            <a:off x="960120" y="2441448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9576" y="2395728"/>
            <a:ext cx="54498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The golden inequality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When inspecting edge (u, v) with weight w, we compare: is dist[u] + w &lt; dist[v]? If yes, we found a superior route!</a:t>
            </a:r>
          </a:p>
        </p:txBody>
      </p:sp>
      <p:sp>
        <p:nvSpPr>
          <p:cNvPr id="22" name="Diamond 21"/>
          <p:cNvSpPr/>
          <p:nvPr/>
        </p:nvSpPr>
        <p:spPr>
          <a:xfrm>
            <a:off x="960120" y="3127248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9576" y="3081528"/>
            <a:ext cx="54498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Updating the tentative record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Set dist[v] = dist[u] + w. Node V's distance drops, and we set parent[v] = u to remember who showed us the shortcut.</a:t>
            </a:r>
          </a:p>
        </p:txBody>
      </p:sp>
      <p:sp>
        <p:nvSpPr>
          <p:cNvPr id="24" name="Diamond 23"/>
          <p:cNvSpPr/>
          <p:nvPr/>
        </p:nvSpPr>
        <p:spPr>
          <a:xfrm>
            <a:off x="960120" y="3813048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9576" y="3767328"/>
            <a:ext cx="54498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Alerting the priority queue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Push the new (dist[v], v) into the min-heap. Node V now moves closer to the front of the line for upcoming extraction.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645152"/>
            <a:ext cx="5669280" cy="822960"/>
          </a:xfrm>
          <a:prstGeom prst="roundRect">
            <a:avLst/>
          </a:prstGeom>
          <a:solidFill>
            <a:srgbClr val="FBF6EA"/>
          </a:solidFill>
          <a:ln w="190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tlCol="0" anchor="ctr"/>
          <a:lstStyle/>
          <a:p>
            <a:pPr algn="ctr">
              <a:defRPr sz="1150" b="1">
                <a:solidFill>
                  <a:srgbClr val="C45C3E"/>
                </a:solidFill>
                <a:latin typeface="Ink Free"/>
              </a:defRPr>
            </a:pPr>
            <a:r>
              <a:t>NAPKIN FORMULA:  if (dist[u] + w(u, v) &lt; dist[v])  =&gt;  dist[v] = dist[u] + w(u, v)</a:t>
            </a:r>
          </a:p>
          <a:p>
            <a:pPr>
              <a:defRPr sz="1000">
                <a:solidFill>
                  <a:srgbClr val="5C4E3A"/>
                </a:solidFill>
                <a:latin typeface="Ink Free"/>
              </a:defRPr>
            </a:pPr>
            <a:r>
              <a:t>Whenever a bridge through current node U beats V's personal best, relax the edge immediately.</a:t>
            </a:r>
          </a:p>
        </p:txBody>
      </p:sp>
      <p:sp>
        <p:nvSpPr>
          <p:cNvPr id="27" name="Rectangle 26"/>
          <p:cNvSpPr/>
          <p:nvPr/>
        </p:nvSpPr>
        <p:spPr>
          <a:xfrm rot="120000">
            <a:off x="7040880" y="960120"/>
            <a:ext cx="4023360" cy="420624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dijkstra_relax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205472" y="1124712"/>
            <a:ext cx="3694176" cy="35478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 rot="120000">
            <a:off x="7205472" y="1124712"/>
            <a:ext cx="3694176" cy="354787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 rot="21360000">
            <a:off x="7315200" y="86868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 rot="480000">
            <a:off x="9784080" y="86868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 rot="120000">
            <a:off x="7178040" y="4709159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Old record: 12. Via node U: 4 + 3 = 7. Shortcut adopted!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09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"C was closer than B, and then C gave B a better discount."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40000">
            <a:off x="960120" y="548640"/>
            <a:ext cx="3657600" cy="256032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topic 5  ·  Walkthrough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100" b="1">
                <a:solidFill>
                  <a:srgbClr val="2C2416"/>
                </a:solidFill>
                <a:latin typeface="Ink Free"/>
              </a:defRPr>
            </a:pPr>
            <a:r>
              <a:t>Meet our 5-node test graph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4407408" cy="58436"/>
          </a:xfrm>
          <a:custGeom>
            <a:avLst/>
            <a:gdLst/>
            <a:ahLst/>
            <a:cxnLst/>
            <a:rect l="l" t="t" r="r" b="b"/>
            <a:pathLst>
              <a:path w="4407408" h="58436">
                <a:moveTo>
                  <a:pt x="0" y="29249"/>
                </a:moveTo>
                <a:lnTo>
                  <a:pt x="157407" y="49194"/>
                </a:lnTo>
                <a:lnTo>
                  <a:pt x="314814" y="58436"/>
                </a:lnTo>
                <a:lnTo>
                  <a:pt x="472222" y="52016"/>
                </a:lnTo>
                <a:lnTo>
                  <a:pt x="629629" y="33378"/>
                </a:lnTo>
                <a:lnTo>
                  <a:pt x="787037" y="12524"/>
                </a:lnTo>
                <a:lnTo>
                  <a:pt x="944444" y="645"/>
                </a:lnTo>
                <a:lnTo>
                  <a:pt x="1101852" y="4115"/>
                </a:lnTo>
                <a:lnTo>
                  <a:pt x="1259259" y="21073"/>
                </a:lnTo>
                <a:lnTo>
                  <a:pt x="1416666" y="42417"/>
                </a:lnTo>
                <a:lnTo>
                  <a:pt x="1574074" y="56695"/>
                </a:lnTo>
                <a:lnTo>
                  <a:pt x="1731481" y="56245"/>
                </a:lnTo>
                <a:lnTo>
                  <a:pt x="1888889" y="41307"/>
                </a:lnTo>
                <a:lnTo>
                  <a:pt x="2046296" y="19899"/>
                </a:lnTo>
                <a:lnTo>
                  <a:pt x="2203704" y="3508"/>
                </a:lnTo>
                <a:lnTo>
                  <a:pt x="2361111" y="930"/>
                </a:lnTo>
                <a:lnTo>
                  <a:pt x="2518518" y="13548"/>
                </a:lnTo>
                <a:lnTo>
                  <a:pt x="2675926" y="34591"/>
                </a:lnTo>
                <a:lnTo>
                  <a:pt x="2833333" y="52768"/>
                </a:lnTo>
                <a:lnTo>
                  <a:pt x="2990741" y="58323"/>
                </a:lnTo>
                <a:lnTo>
                  <a:pt x="3148148" y="48276"/>
                </a:lnTo>
                <a:lnTo>
                  <a:pt x="3305556" y="28019"/>
                </a:lnTo>
                <a:lnTo>
                  <a:pt x="3462963" y="8421"/>
                </a:lnTo>
                <a:lnTo>
                  <a:pt x="3620370" y="0"/>
                </a:lnTo>
                <a:lnTo>
                  <a:pt x="3777778" y="7274"/>
                </a:lnTo>
                <a:lnTo>
                  <a:pt x="3935185" y="26340"/>
                </a:lnTo>
                <a:lnTo>
                  <a:pt x="4092593" y="46967"/>
                </a:lnTo>
                <a:lnTo>
                  <a:pt x="4250000" y="58086"/>
                </a:lnTo>
                <a:lnTo>
                  <a:pt x="4407408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52000">
            <a:off x="960120" y="1609344"/>
            <a:ext cx="5669280" cy="640080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Let's trace Dijkstra step-by-step from Source A across a weighted graph with vertices {A, B, C, D, E}.</a:t>
            </a:r>
          </a:p>
        </p:txBody>
      </p:sp>
      <p:sp>
        <p:nvSpPr>
          <p:cNvPr id="19" name="Rectangle 18"/>
          <p:cNvSpPr/>
          <p:nvPr/>
        </p:nvSpPr>
        <p:spPr>
          <a:xfrm rot="21552000">
            <a:off x="324612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/>
          <p:cNvSpPr/>
          <p:nvPr/>
        </p:nvSpPr>
        <p:spPr>
          <a:xfrm>
            <a:off x="960120" y="2468879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9576" y="2423160"/>
            <a:ext cx="5449824" cy="79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The Graph Topology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Vertices A..E. Edges: A-B(4), A-C(2), B-C(1), B-D(5), C-D(8), C-E(10), D-E(2). All edge weights strictly positive.</a:t>
            </a:r>
          </a:p>
        </p:txBody>
      </p:sp>
      <p:sp>
        <p:nvSpPr>
          <p:cNvPr id="22" name="Diamond 21"/>
          <p:cNvSpPr/>
          <p:nvPr/>
        </p:nvSpPr>
        <p:spPr>
          <a:xfrm>
            <a:off x="960120" y="3261360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9576" y="3215640"/>
            <a:ext cx="5449824" cy="79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Step 0: Start at A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Extract A (dist=0). Relax neighbors: dist[B] becomes 4, dist[C] becomes 2. Min-Heap now holds: C(2), B(4).</a:t>
            </a:r>
          </a:p>
        </p:txBody>
      </p:sp>
      <p:sp>
        <p:nvSpPr>
          <p:cNvPr id="24" name="Diamond 23"/>
          <p:cNvSpPr/>
          <p:nvPr/>
        </p:nvSpPr>
        <p:spPr>
          <a:xfrm>
            <a:off x="960120" y="4053839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9576" y="4008119"/>
            <a:ext cx="5449824" cy="792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Step 1: Extract C (dist=2)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Next smallest is C! Relax neighbors: path to B through C is 2+1 = 3 &lt; 4! B is updated to 3. Relax D to 10, E to 12.</a:t>
            </a:r>
          </a:p>
        </p:txBody>
      </p:sp>
      <p:sp>
        <p:nvSpPr>
          <p:cNvPr id="26" name="Rectangle 25"/>
          <p:cNvSpPr/>
          <p:nvPr/>
        </p:nvSpPr>
        <p:spPr>
          <a:xfrm rot="21120000">
            <a:off x="960120" y="5010912"/>
            <a:ext cx="1920240" cy="384048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TRACE VERIFIED</a:t>
            </a:r>
          </a:p>
        </p:txBody>
      </p:sp>
      <p:sp>
        <p:nvSpPr>
          <p:cNvPr id="27" name="Rectangle 26"/>
          <p:cNvSpPr/>
          <p:nvPr/>
        </p:nvSpPr>
        <p:spPr>
          <a:xfrm rot="120000">
            <a:off x="7040880" y="960120"/>
            <a:ext cx="4023360" cy="420624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gat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205472" y="1124712"/>
            <a:ext cx="3694176" cy="35478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 rot="120000">
            <a:off x="7205472" y="1124712"/>
            <a:ext cx="3694176" cy="354787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 rot="21360000">
            <a:off x="7315200" y="86868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 rot="480000">
            <a:off x="9784080" y="86868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 rot="120000">
            <a:off x="7178040" y="4709159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Graph blueprint: 5 vertices, 7 weighted bridges, zero negative traps.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10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"Watch the infinities melt away, row by row."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10000">
            <a:off x="960120" y="548640"/>
            <a:ext cx="4389120" cy="25603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trace deep dive  ·  the execution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C2416"/>
                </a:solidFill>
                <a:latin typeface="Ink Free"/>
              </a:defRPr>
            </a:pPr>
            <a:r>
              <a:t>The table that tracks every step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4462272" cy="58436"/>
          </a:xfrm>
          <a:custGeom>
            <a:avLst/>
            <a:gdLst/>
            <a:ahLst/>
            <a:cxnLst/>
            <a:rect l="l" t="t" r="r" b="b"/>
            <a:pathLst>
              <a:path w="4462272" h="58436">
                <a:moveTo>
                  <a:pt x="0" y="29249"/>
                </a:moveTo>
                <a:lnTo>
                  <a:pt x="159366" y="49194"/>
                </a:lnTo>
                <a:lnTo>
                  <a:pt x="318733" y="58436"/>
                </a:lnTo>
                <a:lnTo>
                  <a:pt x="478100" y="52016"/>
                </a:lnTo>
                <a:lnTo>
                  <a:pt x="637467" y="33378"/>
                </a:lnTo>
                <a:lnTo>
                  <a:pt x="796834" y="12524"/>
                </a:lnTo>
                <a:lnTo>
                  <a:pt x="956201" y="645"/>
                </a:lnTo>
                <a:lnTo>
                  <a:pt x="1115568" y="4115"/>
                </a:lnTo>
                <a:lnTo>
                  <a:pt x="1274934" y="21073"/>
                </a:lnTo>
                <a:lnTo>
                  <a:pt x="1434301" y="42417"/>
                </a:lnTo>
                <a:lnTo>
                  <a:pt x="1593668" y="56695"/>
                </a:lnTo>
                <a:lnTo>
                  <a:pt x="1753035" y="56245"/>
                </a:lnTo>
                <a:lnTo>
                  <a:pt x="1912402" y="41307"/>
                </a:lnTo>
                <a:lnTo>
                  <a:pt x="2071769" y="19899"/>
                </a:lnTo>
                <a:lnTo>
                  <a:pt x="2231136" y="3508"/>
                </a:lnTo>
                <a:lnTo>
                  <a:pt x="2390502" y="930"/>
                </a:lnTo>
                <a:lnTo>
                  <a:pt x="2549869" y="13548"/>
                </a:lnTo>
                <a:lnTo>
                  <a:pt x="2709236" y="34591"/>
                </a:lnTo>
                <a:lnTo>
                  <a:pt x="2868603" y="52768"/>
                </a:lnTo>
                <a:lnTo>
                  <a:pt x="3027970" y="58323"/>
                </a:lnTo>
                <a:lnTo>
                  <a:pt x="3187337" y="48276"/>
                </a:lnTo>
                <a:lnTo>
                  <a:pt x="3346704" y="28019"/>
                </a:lnTo>
                <a:lnTo>
                  <a:pt x="3506070" y="8421"/>
                </a:lnTo>
                <a:lnTo>
                  <a:pt x="3665437" y="0"/>
                </a:lnTo>
                <a:lnTo>
                  <a:pt x="3824804" y="7274"/>
                </a:lnTo>
                <a:lnTo>
                  <a:pt x="3984171" y="26340"/>
                </a:lnTo>
                <a:lnTo>
                  <a:pt x="4143538" y="46967"/>
                </a:lnTo>
                <a:lnTo>
                  <a:pt x="4302905" y="58086"/>
                </a:lnTo>
                <a:lnTo>
                  <a:pt x="4462272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52000">
            <a:off x="960120" y="1609344"/>
            <a:ext cx="5120640" cy="658368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Step-by-step evolution of tentative distances. Bold values represent permanently settled vertices.</a:t>
            </a:r>
          </a:p>
        </p:txBody>
      </p:sp>
      <p:sp>
        <p:nvSpPr>
          <p:cNvPr id="19" name="Rectangle 18"/>
          <p:cNvSpPr/>
          <p:nvPr/>
        </p:nvSpPr>
        <p:spPr>
          <a:xfrm rot="21552000">
            <a:off x="297180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/>
          <p:cNvSpPr/>
          <p:nvPr/>
        </p:nvSpPr>
        <p:spPr>
          <a:xfrm>
            <a:off x="960120" y="2468879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9576" y="2423160"/>
            <a:ext cx="4901183" cy="80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Early Shortcut for B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Direct edge A-B cost 4. But visiting C first (cost 2) + edge C-B (cost 1) drops B's cost to 3!</a:t>
            </a:r>
          </a:p>
        </p:txBody>
      </p:sp>
      <p:sp>
        <p:nvSpPr>
          <p:cNvPr id="22" name="Diamond 21"/>
          <p:cNvSpPr/>
          <p:nvPr/>
        </p:nvSpPr>
        <p:spPr>
          <a:xfrm>
            <a:off x="960120" y="3276599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9576" y="3230880"/>
            <a:ext cx="4901183" cy="80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Cascading Shortcut for D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Path A→C→D cost 10. But going through B gives 3 + 5 = 8, saving 2 units.</a:t>
            </a:r>
          </a:p>
        </p:txBody>
      </p:sp>
      <p:sp>
        <p:nvSpPr>
          <p:cNvPr id="24" name="Diamond 23"/>
          <p:cNvSpPr/>
          <p:nvPr/>
        </p:nvSpPr>
        <p:spPr>
          <a:xfrm>
            <a:off x="960120" y="4084319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9576" y="4038599"/>
            <a:ext cx="4901183" cy="80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Final Destination E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Path A→C→B→D→E gives 8 + 2 = 10, beating direct route A→C→E (12).</a:t>
            </a:r>
          </a:p>
        </p:txBody>
      </p:sp>
      <p:sp>
        <p:nvSpPr>
          <p:cNvPr id="26" name="Rectangle 25"/>
          <p:cNvSpPr/>
          <p:nvPr/>
        </p:nvSpPr>
        <p:spPr>
          <a:xfrm rot="21180000">
            <a:off x="960120" y="5029200"/>
            <a:ext cx="1737360" cy="384048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ALL SETTLED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1609344"/>
            <a:ext cx="4937760" cy="347472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446520" y="1737360"/>
          <a:ext cx="4754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45C3E"/>
                          </a:solidFill>
                          <a:latin typeface="Ink Free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45C3E"/>
                          </a:solidFill>
                          <a:latin typeface="Ink Free"/>
                        </a:defRPr>
                      </a:pPr>
                      <a:r>
                        <a:t>Pick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45C3E"/>
                          </a:solidFill>
                          <a:latin typeface="Ink Free"/>
                        </a:defRPr>
                      </a:pPr>
                      <a:r>
                        <a:t>dist[A]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45C3E"/>
                          </a:solidFill>
                          <a:latin typeface="Ink Free"/>
                        </a:defRPr>
                      </a:pPr>
                      <a:r>
                        <a:t>dist[B]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45C3E"/>
                          </a:solidFill>
                          <a:latin typeface="Ink Free"/>
                        </a:defRPr>
                      </a:pPr>
                      <a:r>
                        <a:t>dist[C]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45C3E"/>
                          </a:solidFill>
                          <a:latin typeface="Ink Free"/>
                        </a:defRPr>
                      </a:pPr>
                      <a:r>
                        <a:t>dist[D]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45C3E"/>
                          </a:solidFill>
                          <a:latin typeface="Ink Free"/>
                        </a:defRPr>
                      </a:pPr>
                      <a:r>
                        <a:t>dist[E]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Init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A (0)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[0]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C (2)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[0]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E3D28"/>
                          </a:solidFill>
                          <a:latin typeface="Calibri"/>
                        </a:defRPr>
                      </a:pPr>
                      <a:r>
                        <a:t>3*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[2]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B (3)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[0]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[3]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[2]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E3D28"/>
                          </a:solidFill>
                          <a:latin typeface="Calibri"/>
                        </a:defRPr>
                      </a:pPr>
                      <a:r>
                        <a:t>8*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B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D (8)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[0]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[3]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[2]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416"/>
                          </a:solidFill>
                          <a:latin typeface="Calibri"/>
                        </a:defRPr>
                      </a:pPr>
                      <a:r>
                        <a:t>[8]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8E3D28"/>
                          </a:solidFill>
                          <a:latin typeface="Calibri"/>
                        </a:defRPr>
                      </a:pPr>
                      <a:r>
                        <a:t>10*</a:t>
                      </a:r>
                    </a:p>
                  </a:txBody>
                  <a:tcPr>
                    <a:solidFill>
                      <a:srgbClr val="F3EA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11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"Store one pointer per vertex. Walk backwards to go forward."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40000">
            <a:off x="960120" y="548640"/>
            <a:ext cx="3840480" cy="256032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path reconstruction  ·  backtracking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C2416"/>
                </a:solidFill>
                <a:latin typeface="Ink Free"/>
              </a:defRPr>
            </a:pPr>
            <a:r>
              <a:t>How to actually retrace your steps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4718304" cy="58436"/>
          </a:xfrm>
          <a:custGeom>
            <a:avLst/>
            <a:gdLst/>
            <a:ahLst/>
            <a:cxnLst/>
            <a:rect l="l" t="t" r="r" b="b"/>
            <a:pathLst>
              <a:path w="4718304" h="58436">
                <a:moveTo>
                  <a:pt x="0" y="29249"/>
                </a:moveTo>
                <a:lnTo>
                  <a:pt x="168510" y="49194"/>
                </a:lnTo>
                <a:lnTo>
                  <a:pt x="337021" y="58436"/>
                </a:lnTo>
                <a:lnTo>
                  <a:pt x="505532" y="52016"/>
                </a:lnTo>
                <a:lnTo>
                  <a:pt x="674043" y="33378"/>
                </a:lnTo>
                <a:lnTo>
                  <a:pt x="842554" y="12524"/>
                </a:lnTo>
                <a:lnTo>
                  <a:pt x="1011065" y="645"/>
                </a:lnTo>
                <a:lnTo>
                  <a:pt x="1179576" y="4115"/>
                </a:lnTo>
                <a:lnTo>
                  <a:pt x="1348086" y="21073"/>
                </a:lnTo>
                <a:lnTo>
                  <a:pt x="1516597" y="42417"/>
                </a:lnTo>
                <a:lnTo>
                  <a:pt x="1685108" y="56695"/>
                </a:lnTo>
                <a:lnTo>
                  <a:pt x="1853619" y="56245"/>
                </a:lnTo>
                <a:lnTo>
                  <a:pt x="2022130" y="41307"/>
                </a:lnTo>
                <a:lnTo>
                  <a:pt x="2190641" y="19899"/>
                </a:lnTo>
                <a:lnTo>
                  <a:pt x="2359152" y="3508"/>
                </a:lnTo>
                <a:lnTo>
                  <a:pt x="2527662" y="930"/>
                </a:lnTo>
                <a:lnTo>
                  <a:pt x="2696173" y="13548"/>
                </a:lnTo>
                <a:lnTo>
                  <a:pt x="2864684" y="34591"/>
                </a:lnTo>
                <a:lnTo>
                  <a:pt x="3033195" y="52768"/>
                </a:lnTo>
                <a:lnTo>
                  <a:pt x="3201706" y="58323"/>
                </a:lnTo>
                <a:lnTo>
                  <a:pt x="3370217" y="48276"/>
                </a:lnTo>
                <a:lnTo>
                  <a:pt x="3538728" y="28019"/>
                </a:lnTo>
                <a:lnTo>
                  <a:pt x="3707238" y="8421"/>
                </a:lnTo>
                <a:lnTo>
                  <a:pt x="3875749" y="0"/>
                </a:lnTo>
                <a:lnTo>
                  <a:pt x="4044260" y="7274"/>
                </a:lnTo>
                <a:lnTo>
                  <a:pt x="4212771" y="26340"/>
                </a:lnTo>
                <a:lnTo>
                  <a:pt x="4381282" y="46967"/>
                </a:lnTo>
                <a:lnTo>
                  <a:pt x="4549793" y="58086"/>
                </a:lnTo>
                <a:lnTo>
                  <a:pt x="4718304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52000">
            <a:off x="960120" y="1609344"/>
            <a:ext cx="5669280" cy="749808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Knowing the minimum numerical cost is only half the prize. The parent pointer array lets us reconstruct the exact highway route.</a:t>
            </a:r>
          </a:p>
        </p:txBody>
      </p:sp>
      <p:sp>
        <p:nvSpPr>
          <p:cNvPr id="19" name="Rectangle 18"/>
          <p:cNvSpPr/>
          <p:nvPr/>
        </p:nvSpPr>
        <p:spPr>
          <a:xfrm rot="21552000">
            <a:off x="324612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/>
          <p:cNvSpPr/>
          <p:nvPr/>
        </p:nvSpPr>
        <p:spPr>
          <a:xfrm>
            <a:off x="960120" y="2532888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9576" y="2487168"/>
            <a:ext cx="5449824" cy="80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The Parent Array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Whenever an edge (u, v) is relaxed, we record parent[v] = u. This creates a reverse shortest-path tree pointing back toward the source.</a:t>
            </a:r>
          </a:p>
        </p:txBody>
      </p:sp>
      <p:sp>
        <p:nvSpPr>
          <p:cNvPr id="22" name="Diamond 21"/>
          <p:cNvSpPr/>
          <p:nvPr/>
        </p:nvSpPr>
        <p:spPr>
          <a:xfrm>
            <a:off x="960120" y="3340608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9576" y="3294888"/>
            <a:ext cx="5449824" cy="80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Backtracking from Destination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Want the route to node E? Look up parent[E] = D, parent[D] = B, parent[B] = C, parent[C] = A, parent[A] = NIL.</a:t>
            </a:r>
          </a:p>
        </p:txBody>
      </p:sp>
      <p:sp>
        <p:nvSpPr>
          <p:cNvPr id="24" name="Diamond 23"/>
          <p:cNvSpPr/>
          <p:nvPr/>
        </p:nvSpPr>
        <p:spPr>
          <a:xfrm>
            <a:off x="960120" y="4148327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9576" y="4102607"/>
            <a:ext cx="5449824" cy="80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Reverse for Victory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Reversing [E, D, B, C, A] gives the optimal forward path: A → C → B → D → E, with optimal total cost = 10.</a:t>
            </a:r>
          </a:p>
        </p:txBody>
      </p:sp>
      <p:sp>
        <p:nvSpPr>
          <p:cNvPr id="26" name="Rectangle 25"/>
          <p:cNvSpPr/>
          <p:nvPr/>
        </p:nvSpPr>
        <p:spPr>
          <a:xfrm rot="21180000">
            <a:off x="960120" y="5029200"/>
            <a:ext cx="1783080" cy="384048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BREADCRUMBS</a:t>
            </a:r>
          </a:p>
        </p:txBody>
      </p:sp>
      <p:sp>
        <p:nvSpPr>
          <p:cNvPr id="27" name="Rectangle 26"/>
          <p:cNvSpPr/>
          <p:nvPr/>
        </p:nvSpPr>
        <p:spPr>
          <a:xfrm rot="120000">
            <a:off x="7040880" y="960120"/>
            <a:ext cx="4023360" cy="420624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coun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205472" y="1124712"/>
            <a:ext cx="3694176" cy="35478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 rot="120000">
            <a:off x="7205472" y="1124712"/>
            <a:ext cx="3694176" cy="354787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 rot="21360000">
            <a:off x="7315200" y="86868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 rot="480000">
            <a:off x="9784080" y="86868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 rot="120000">
            <a:off x="7178040" y="4709159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Follow the breadcrumb trail backwards. Reverse it. Arrive safely.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12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"Dijkstra doesn't do refunds. If an edge pays you to cross it, call Bellman."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40000">
            <a:off x="960120" y="548640"/>
            <a:ext cx="3840480" cy="256032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the danger zone  ·  negative weights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2C2416"/>
                </a:solidFill>
                <a:latin typeface="Ink Free"/>
              </a:defRPr>
            </a:pPr>
            <a:r>
              <a:t>The kryptonite: negative edge weights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5102352" cy="58436"/>
          </a:xfrm>
          <a:custGeom>
            <a:avLst/>
            <a:gdLst/>
            <a:ahLst/>
            <a:cxnLst/>
            <a:rect l="l" t="t" r="r" b="b"/>
            <a:pathLst>
              <a:path w="5102352" h="58436">
                <a:moveTo>
                  <a:pt x="0" y="29249"/>
                </a:moveTo>
                <a:lnTo>
                  <a:pt x="182226" y="49194"/>
                </a:lnTo>
                <a:lnTo>
                  <a:pt x="364453" y="58436"/>
                </a:lnTo>
                <a:lnTo>
                  <a:pt x="546680" y="52016"/>
                </a:lnTo>
                <a:lnTo>
                  <a:pt x="728907" y="33378"/>
                </a:lnTo>
                <a:lnTo>
                  <a:pt x="911134" y="12524"/>
                </a:lnTo>
                <a:lnTo>
                  <a:pt x="1093361" y="645"/>
                </a:lnTo>
                <a:lnTo>
                  <a:pt x="1275588" y="4115"/>
                </a:lnTo>
                <a:lnTo>
                  <a:pt x="1457814" y="21073"/>
                </a:lnTo>
                <a:lnTo>
                  <a:pt x="1640041" y="42417"/>
                </a:lnTo>
                <a:lnTo>
                  <a:pt x="1822268" y="56695"/>
                </a:lnTo>
                <a:lnTo>
                  <a:pt x="2004495" y="56245"/>
                </a:lnTo>
                <a:lnTo>
                  <a:pt x="2186722" y="41307"/>
                </a:lnTo>
                <a:lnTo>
                  <a:pt x="2368949" y="19899"/>
                </a:lnTo>
                <a:lnTo>
                  <a:pt x="2551176" y="3508"/>
                </a:lnTo>
                <a:lnTo>
                  <a:pt x="2733402" y="930"/>
                </a:lnTo>
                <a:lnTo>
                  <a:pt x="2915629" y="13548"/>
                </a:lnTo>
                <a:lnTo>
                  <a:pt x="3097856" y="34591"/>
                </a:lnTo>
                <a:lnTo>
                  <a:pt x="3280083" y="52768"/>
                </a:lnTo>
                <a:lnTo>
                  <a:pt x="3462310" y="58323"/>
                </a:lnTo>
                <a:lnTo>
                  <a:pt x="3644537" y="48276"/>
                </a:lnTo>
                <a:lnTo>
                  <a:pt x="3826764" y="28019"/>
                </a:lnTo>
                <a:lnTo>
                  <a:pt x="4008990" y="8421"/>
                </a:lnTo>
                <a:lnTo>
                  <a:pt x="4191217" y="0"/>
                </a:lnTo>
                <a:lnTo>
                  <a:pt x="4373444" y="7274"/>
                </a:lnTo>
                <a:lnTo>
                  <a:pt x="4555671" y="26340"/>
                </a:lnTo>
                <a:lnTo>
                  <a:pt x="4737898" y="46967"/>
                </a:lnTo>
                <a:lnTo>
                  <a:pt x="4920125" y="58086"/>
                </a:lnTo>
                <a:lnTo>
                  <a:pt x="5102352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52000">
            <a:off x="960120" y="1609344"/>
            <a:ext cx="5669280" cy="749808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Dijkstra assumes a settled node's distance can never decrease. A negative edge shatters this promise and leads to incorrect answers.</a:t>
            </a:r>
          </a:p>
        </p:txBody>
      </p:sp>
      <p:sp>
        <p:nvSpPr>
          <p:cNvPr id="19" name="Rectangle 18"/>
          <p:cNvSpPr/>
          <p:nvPr/>
        </p:nvSpPr>
        <p:spPr>
          <a:xfrm rot="21552000">
            <a:off x="324612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/>
          <p:cNvSpPr/>
          <p:nvPr/>
        </p:nvSpPr>
        <p:spPr>
          <a:xfrm>
            <a:off x="960120" y="2532888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9576" y="2487168"/>
            <a:ext cx="5449824" cy="80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The Broken Greedy Assumption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If edge weights can be negative, taking a longer detour through an unvisited node could end up cheaper than an already 'finalized' node.</a:t>
            </a:r>
          </a:p>
        </p:txBody>
      </p:sp>
      <p:sp>
        <p:nvSpPr>
          <p:cNvPr id="22" name="Diamond 21"/>
          <p:cNvSpPr/>
          <p:nvPr/>
        </p:nvSpPr>
        <p:spPr>
          <a:xfrm>
            <a:off x="960120" y="3340608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9576" y="3294888"/>
            <a:ext cx="5449824" cy="80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The Negative Cycle Black Hole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If a cycle's total edge sum is negative, traversing it infinitely reduces path cost toward -∞. The concept of 'shortest' becomes meaningless!</a:t>
            </a:r>
          </a:p>
        </p:txBody>
      </p:sp>
      <p:sp>
        <p:nvSpPr>
          <p:cNvPr id="24" name="Diamond 23"/>
          <p:cNvSpPr/>
          <p:nvPr/>
        </p:nvSpPr>
        <p:spPr>
          <a:xfrm>
            <a:off x="960120" y="4148327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9576" y="4102607"/>
            <a:ext cx="5449824" cy="80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The Remedy: Bellman-Ford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When negative weights exist, swap Dijkstra for Bellman-Ford. It relaxes all edges V-1 times and detects negative cycles.</a:t>
            </a:r>
          </a:p>
        </p:txBody>
      </p:sp>
      <p:sp>
        <p:nvSpPr>
          <p:cNvPr id="26" name="Rectangle 25"/>
          <p:cNvSpPr/>
          <p:nvPr/>
        </p:nvSpPr>
        <p:spPr>
          <a:xfrm rot="21180000">
            <a:off x="960120" y="5029200"/>
            <a:ext cx="1645920" cy="384048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DANGER: -W</a:t>
            </a:r>
          </a:p>
        </p:txBody>
      </p:sp>
      <p:sp>
        <p:nvSpPr>
          <p:cNvPr id="27" name="Rectangle 26"/>
          <p:cNvSpPr/>
          <p:nvPr/>
        </p:nvSpPr>
        <p:spPr>
          <a:xfrm rot="120000">
            <a:off x="7040880" y="960120"/>
            <a:ext cx="4023360" cy="420624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dijkstra_negati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205472" y="1124712"/>
            <a:ext cx="3694176" cy="35478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 rot="120000">
            <a:off x="7205472" y="1124712"/>
            <a:ext cx="3694176" cy="354787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 rot="21360000">
            <a:off x="7315200" y="86868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 rot="480000">
            <a:off x="9784080" y="86868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 rot="120000">
            <a:off x="7178040" y="4709159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A negative edge is a toll booth that pays you to drive through.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13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"In theory, Fibonacci heaps are king. In practice, binary heaps take the trophy."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10000">
            <a:off x="960120" y="548640"/>
            <a:ext cx="4389120" cy="25603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topic 6  ·  Performance &amp; 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2C2416"/>
                </a:solidFill>
                <a:latin typeface="Ink Free"/>
              </a:defRPr>
            </a:pPr>
            <a:r>
              <a:t>Three implementations, three speed tiers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5486400" cy="58436"/>
          </a:xfrm>
          <a:custGeom>
            <a:avLst/>
            <a:gdLst/>
            <a:ahLst/>
            <a:cxnLst/>
            <a:rect l="l" t="t" r="r" b="b"/>
            <a:pathLst>
              <a:path w="5486400" h="58436">
                <a:moveTo>
                  <a:pt x="0" y="29249"/>
                </a:moveTo>
                <a:lnTo>
                  <a:pt x="195942" y="49194"/>
                </a:lnTo>
                <a:lnTo>
                  <a:pt x="391885" y="58436"/>
                </a:lnTo>
                <a:lnTo>
                  <a:pt x="587828" y="52016"/>
                </a:lnTo>
                <a:lnTo>
                  <a:pt x="783771" y="33378"/>
                </a:lnTo>
                <a:lnTo>
                  <a:pt x="979714" y="12524"/>
                </a:lnTo>
                <a:lnTo>
                  <a:pt x="1175657" y="645"/>
                </a:lnTo>
                <a:lnTo>
                  <a:pt x="1371600" y="4115"/>
                </a:lnTo>
                <a:lnTo>
                  <a:pt x="1567542" y="21073"/>
                </a:lnTo>
                <a:lnTo>
                  <a:pt x="1763485" y="42417"/>
                </a:lnTo>
                <a:lnTo>
                  <a:pt x="1959428" y="56695"/>
                </a:lnTo>
                <a:lnTo>
                  <a:pt x="2155371" y="56245"/>
                </a:lnTo>
                <a:lnTo>
                  <a:pt x="2351314" y="41307"/>
                </a:lnTo>
                <a:lnTo>
                  <a:pt x="2547257" y="19899"/>
                </a:lnTo>
                <a:lnTo>
                  <a:pt x="2743200" y="3508"/>
                </a:lnTo>
                <a:lnTo>
                  <a:pt x="2939142" y="930"/>
                </a:lnTo>
                <a:lnTo>
                  <a:pt x="3135085" y="13548"/>
                </a:lnTo>
                <a:lnTo>
                  <a:pt x="3331028" y="34591"/>
                </a:lnTo>
                <a:lnTo>
                  <a:pt x="3526971" y="52768"/>
                </a:lnTo>
                <a:lnTo>
                  <a:pt x="3722914" y="58323"/>
                </a:lnTo>
                <a:lnTo>
                  <a:pt x="3918857" y="48276"/>
                </a:lnTo>
                <a:lnTo>
                  <a:pt x="4114800" y="28019"/>
                </a:lnTo>
                <a:lnTo>
                  <a:pt x="4310742" y="8421"/>
                </a:lnTo>
                <a:lnTo>
                  <a:pt x="4506685" y="0"/>
                </a:lnTo>
                <a:lnTo>
                  <a:pt x="4702628" y="7274"/>
                </a:lnTo>
                <a:lnTo>
                  <a:pt x="4898571" y="26340"/>
                </a:lnTo>
                <a:lnTo>
                  <a:pt x="5094514" y="46967"/>
                </a:lnTo>
                <a:lnTo>
                  <a:pt x="5290457" y="58086"/>
                </a:lnTo>
                <a:lnTo>
                  <a:pt x="5486400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70000">
            <a:off x="960120" y="1609344"/>
            <a:ext cx="9966960" cy="548640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How fast Dijkstra runs depends entirely on how you find the minimum unvisited node. Data structure choice makes all the difference.</a:t>
            </a:r>
          </a:p>
        </p:txBody>
      </p:sp>
      <p:sp>
        <p:nvSpPr>
          <p:cNvPr id="19" name="Rectangle 18"/>
          <p:cNvSpPr/>
          <p:nvPr/>
        </p:nvSpPr>
        <p:spPr>
          <a:xfrm rot="21570000">
            <a:off x="539496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" y="2377440"/>
            <a:ext cx="3108960" cy="228600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1. Unordered Array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Time: O(V²)</a:t>
            </a:r>
            <a:br/>
            <a:br/>
            <a:r>
              <a:t>• Extract-Min: O(V) scan</a:t>
            </a:r>
            <a:br/>
            <a:r>
              <a:t>• Decrease-Key: O(1)</a:t>
            </a:r>
            <a:br/>
            <a:br/>
            <a:r>
              <a:t>Pros: Very simple; optimal for dense graphs where E ≈ V².</a:t>
            </a:r>
            <a:br/>
            <a:r>
              <a:t>Cons: Terribly slow on massive sparse road networks.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377440"/>
            <a:ext cx="3108960" cy="2286000"/>
          </a:xfrm>
          <a:prstGeom prst="roundRect">
            <a:avLst/>
          </a:prstGeom>
          <a:solidFill>
            <a:srgbClr val="EFE4B8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2. Binary Min-Heap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Time: O((V + E) log V)</a:t>
            </a:r>
            <a:br/>
            <a:br/>
            <a:r>
              <a:t>• Extract-Min: O(log V)</a:t>
            </a:r>
            <a:br/>
            <a:r>
              <a:t>• Decrease-Key: O(log V)</a:t>
            </a:r>
            <a:br/>
            <a:br/>
            <a:r>
              <a:t>Pros: Standard workhorse; lightning fast on sparse graphs (E &lt;&lt; V²).</a:t>
            </a:r>
            <a:br/>
            <a:r>
              <a:t>Cons: Log factor on every relaxation.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377440"/>
            <a:ext cx="3108960" cy="2286000"/>
          </a:xfrm>
          <a:prstGeom prst="roundRect">
            <a:avLst/>
          </a:prstGeom>
          <a:solidFill>
            <a:srgbClr val="5E7A58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BF6EA"/>
                </a:solidFill>
                <a:latin typeface="Ink Free"/>
              </a:defRPr>
            </a:pPr>
            <a:r>
              <a:t>3. Fibonacci Heap</a:t>
            </a:r>
          </a:p>
          <a:p>
            <a:pPr>
              <a:defRPr sz="1050">
                <a:solidFill>
                  <a:srgbClr val="FBF6EA"/>
                </a:solidFill>
                <a:latin typeface="Ink Free"/>
              </a:defRPr>
            </a:pPr>
            <a:r>
              <a:t>Time: O(E + V log V)</a:t>
            </a:r>
            <a:br/>
            <a:br/>
            <a:r>
              <a:t>• Extract-Min: O(log V) amortized</a:t>
            </a:r>
            <a:br/>
            <a:r>
              <a:t>• Decrease-Key: O(1) amortized</a:t>
            </a:r>
            <a:br/>
            <a:br/>
            <a:r>
              <a:t>Pros: Theoretically optimal bound.</a:t>
            </a:r>
            <a:br/>
            <a:r>
              <a:t>Cons: High constant factors, complex pointer bookkeeping.</a:t>
            </a:r>
          </a:p>
        </p:txBody>
      </p:sp>
      <p:sp>
        <p:nvSpPr>
          <p:cNvPr id="23" name="Rectangle 22"/>
          <p:cNvSpPr/>
          <p:nvPr/>
        </p:nvSpPr>
        <p:spPr>
          <a:xfrm rot="21240000">
            <a:off x="960120" y="4892040"/>
            <a:ext cx="2011680" cy="384048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O((V+E) LOG V)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14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"Simplicity plus mathematical proof equals 70 years of dominance."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40000">
            <a:off x="960120" y="548640"/>
            <a:ext cx="2743200" cy="256032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topic 6a  ·  Advantages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2C2416"/>
                </a:solidFill>
                <a:latin typeface="Ink Free"/>
              </a:defRPr>
            </a:pPr>
            <a:r>
              <a:t>Why Dijkstra remains the industry king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5230368" cy="58436"/>
          </a:xfrm>
          <a:custGeom>
            <a:avLst/>
            <a:gdLst/>
            <a:ahLst/>
            <a:cxnLst/>
            <a:rect l="l" t="t" r="r" b="b"/>
            <a:pathLst>
              <a:path w="5230368" h="58436">
                <a:moveTo>
                  <a:pt x="0" y="29249"/>
                </a:moveTo>
                <a:lnTo>
                  <a:pt x="186798" y="49194"/>
                </a:lnTo>
                <a:lnTo>
                  <a:pt x="373597" y="58436"/>
                </a:lnTo>
                <a:lnTo>
                  <a:pt x="560396" y="52016"/>
                </a:lnTo>
                <a:lnTo>
                  <a:pt x="747195" y="33378"/>
                </a:lnTo>
                <a:lnTo>
                  <a:pt x="933994" y="12524"/>
                </a:lnTo>
                <a:lnTo>
                  <a:pt x="1120793" y="645"/>
                </a:lnTo>
                <a:lnTo>
                  <a:pt x="1307592" y="4115"/>
                </a:lnTo>
                <a:lnTo>
                  <a:pt x="1494390" y="21073"/>
                </a:lnTo>
                <a:lnTo>
                  <a:pt x="1681189" y="42417"/>
                </a:lnTo>
                <a:lnTo>
                  <a:pt x="1867988" y="56695"/>
                </a:lnTo>
                <a:lnTo>
                  <a:pt x="2054787" y="56245"/>
                </a:lnTo>
                <a:lnTo>
                  <a:pt x="2241586" y="41307"/>
                </a:lnTo>
                <a:lnTo>
                  <a:pt x="2428385" y="19899"/>
                </a:lnTo>
                <a:lnTo>
                  <a:pt x="2615184" y="3508"/>
                </a:lnTo>
                <a:lnTo>
                  <a:pt x="2801982" y="930"/>
                </a:lnTo>
                <a:lnTo>
                  <a:pt x="2988781" y="13548"/>
                </a:lnTo>
                <a:lnTo>
                  <a:pt x="3175580" y="34591"/>
                </a:lnTo>
                <a:lnTo>
                  <a:pt x="3362379" y="52768"/>
                </a:lnTo>
                <a:lnTo>
                  <a:pt x="3549178" y="58323"/>
                </a:lnTo>
                <a:lnTo>
                  <a:pt x="3735977" y="48276"/>
                </a:lnTo>
                <a:lnTo>
                  <a:pt x="3922776" y="28019"/>
                </a:lnTo>
                <a:lnTo>
                  <a:pt x="4109574" y="8421"/>
                </a:lnTo>
                <a:lnTo>
                  <a:pt x="4296373" y="0"/>
                </a:lnTo>
                <a:lnTo>
                  <a:pt x="4483172" y="7274"/>
                </a:lnTo>
                <a:lnTo>
                  <a:pt x="4669971" y="26340"/>
                </a:lnTo>
                <a:lnTo>
                  <a:pt x="4856770" y="46967"/>
                </a:lnTo>
                <a:lnTo>
                  <a:pt x="5043569" y="58086"/>
                </a:lnTo>
                <a:lnTo>
                  <a:pt x="5230368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52000">
            <a:off x="960120" y="1609344"/>
            <a:ext cx="5669280" cy="658368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Decades after its 1956 discovery, Dijkstra's algorithm remains the foundational engine of networking, GPS, and logistics.</a:t>
            </a:r>
          </a:p>
        </p:txBody>
      </p:sp>
      <p:sp>
        <p:nvSpPr>
          <p:cNvPr id="19" name="Rectangle 18"/>
          <p:cNvSpPr/>
          <p:nvPr/>
        </p:nvSpPr>
        <p:spPr>
          <a:xfrm rot="21552000">
            <a:off x="324612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/>
          <p:cNvSpPr/>
          <p:nvPr/>
        </p:nvSpPr>
        <p:spPr>
          <a:xfrm>
            <a:off x="960120" y="2468879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9576" y="2423160"/>
            <a:ext cx="544982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Mathematically Proven Optimal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For non-negative edge weights, Dijkstra is strictly optimal. It never settles for approximate paths or risky heuristic shortcuts.</a:t>
            </a:r>
          </a:p>
        </p:txBody>
      </p:sp>
      <p:sp>
        <p:nvSpPr>
          <p:cNvPr id="22" name="Diamond 21"/>
          <p:cNvSpPr/>
          <p:nvPr/>
        </p:nvSpPr>
        <p:spPr>
          <a:xfrm>
            <a:off x="960120" y="3291839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9576" y="3246120"/>
            <a:ext cx="544982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Single-Source, All-Destinations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In a single pass, it computes shortest paths from the source to every reachable node in the entire network.</a:t>
            </a:r>
          </a:p>
        </p:txBody>
      </p:sp>
      <p:sp>
        <p:nvSpPr>
          <p:cNvPr id="24" name="Diamond 23"/>
          <p:cNvSpPr/>
          <p:nvPr/>
        </p:nvSpPr>
        <p:spPr>
          <a:xfrm>
            <a:off x="960120" y="4114800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9576" y="4069080"/>
            <a:ext cx="544982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Near-Linear Efficiency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Paired with a binary min-heap or priority queue, it executes in O((V + E) log V), easily chewing through millions of graph nodes.</a:t>
            </a:r>
          </a:p>
        </p:txBody>
      </p:sp>
      <p:sp>
        <p:nvSpPr>
          <p:cNvPr id="26" name="Rectangle 25"/>
          <p:cNvSpPr/>
          <p:nvPr/>
        </p:nvSpPr>
        <p:spPr>
          <a:xfrm rot="21120000">
            <a:off x="960120" y="5010912"/>
            <a:ext cx="2011680" cy="384048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PROVEN OPTIMAL</a:t>
            </a:r>
          </a:p>
        </p:txBody>
      </p:sp>
      <p:sp>
        <p:nvSpPr>
          <p:cNvPr id="27" name="Rectangle 26"/>
          <p:cNvSpPr/>
          <p:nvPr/>
        </p:nvSpPr>
        <p:spPr>
          <a:xfrm rot="120000">
            <a:off x="7040880" y="960120"/>
            <a:ext cx="4023360" cy="420624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ris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205472" y="1124712"/>
            <a:ext cx="3694176" cy="35478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 rot="120000">
            <a:off x="7205472" y="1124712"/>
            <a:ext cx="3694176" cy="354787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 rot="21360000">
            <a:off x="7315200" y="86868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 rot="480000">
            <a:off x="9784080" y="86868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 rot="120000">
            <a:off x="7178040" y="4709159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Decades old, yet still running the internet routing table under the hood.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15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"It will find the shortest path to Paris by also carefully checking Munich."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40000">
            <a:off x="960120" y="548640"/>
            <a:ext cx="2743200" cy="256032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topic 6b  · 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2C2416"/>
                </a:solidFill>
                <a:latin typeface="Ink Free"/>
              </a:defRPr>
            </a:pPr>
            <a:r>
              <a:t>The fine print in the pathfinder's contract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5486400" cy="58436"/>
          </a:xfrm>
          <a:custGeom>
            <a:avLst/>
            <a:gdLst/>
            <a:ahLst/>
            <a:cxnLst/>
            <a:rect l="l" t="t" r="r" b="b"/>
            <a:pathLst>
              <a:path w="5486400" h="58436">
                <a:moveTo>
                  <a:pt x="0" y="29249"/>
                </a:moveTo>
                <a:lnTo>
                  <a:pt x="195942" y="49194"/>
                </a:lnTo>
                <a:lnTo>
                  <a:pt x="391885" y="58436"/>
                </a:lnTo>
                <a:lnTo>
                  <a:pt x="587828" y="52016"/>
                </a:lnTo>
                <a:lnTo>
                  <a:pt x="783771" y="33378"/>
                </a:lnTo>
                <a:lnTo>
                  <a:pt x="979714" y="12524"/>
                </a:lnTo>
                <a:lnTo>
                  <a:pt x="1175657" y="645"/>
                </a:lnTo>
                <a:lnTo>
                  <a:pt x="1371600" y="4115"/>
                </a:lnTo>
                <a:lnTo>
                  <a:pt x="1567542" y="21073"/>
                </a:lnTo>
                <a:lnTo>
                  <a:pt x="1763485" y="42417"/>
                </a:lnTo>
                <a:lnTo>
                  <a:pt x="1959428" y="56695"/>
                </a:lnTo>
                <a:lnTo>
                  <a:pt x="2155371" y="56245"/>
                </a:lnTo>
                <a:lnTo>
                  <a:pt x="2351314" y="41307"/>
                </a:lnTo>
                <a:lnTo>
                  <a:pt x="2547257" y="19899"/>
                </a:lnTo>
                <a:lnTo>
                  <a:pt x="2743200" y="3508"/>
                </a:lnTo>
                <a:lnTo>
                  <a:pt x="2939142" y="930"/>
                </a:lnTo>
                <a:lnTo>
                  <a:pt x="3135085" y="13548"/>
                </a:lnTo>
                <a:lnTo>
                  <a:pt x="3331028" y="34591"/>
                </a:lnTo>
                <a:lnTo>
                  <a:pt x="3526971" y="52768"/>
                </a:lnTo>
                <a:lnTo>
                  <a:pt x="3722914" y="58323"/>
                </a:lnTo>
                <a:lnTo>
                  <a:pt x="3918857" y="48276"/>
                </a:lnTo>
                <a:lnTo>
                  <a:pt x="4114800" y="28019"/>
                </a:lnTo>
                <a:lnTo>
                  <a:pt x="4310742" y="8421"/>
                </a:lnTo>
                <a:lnTo>
                  <a:pt x="4506685" y="0"/>
                </a:lnTo>
                <a:lnTo>
                  <a:pt x="4702628" y="7274"/>
                </a:lnTo>
                <a:lnTo>
                  <a:pt x="4898571" y="26340"/>
                </a:lnTo>
                <a:lnTo>
                  <a:pt x="5094514" y="46967"/>
                </a:lnTo>
                <a:lnTo>
                  <a:pt x="5290457" y="58086"/>
                </a:lnTo>
                <a:lnTo>
                  <a:pt x="5486400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52000">
            <a:off x="960120" y="1609344"/>
            <a:ext cx="5669280" cy="594360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Fast and optimal, but completely blind to spatial direction and strictly allergic to negative numbers.</a:t>
            </a:r>
          </a:p>
        </p:txBody>
      </p:sp>
      <p:sp>
        <p:nvSpPr>
          <p:cNvPr id="19" name="Rectangle 18"/>
          <p:cNvSpPr/>
          <p:nvPr/>
        </p:nvSpPr>
        <p:spPr>
          <a:xfrm rot="21552000">
            <a:off x="324612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/>
          <p:cNvSpPr/>
          <p:nvPr/>
        </p:nvSpPr>
        <p:spPr>
          <a:xfrm>
            <a:off x="960120" y="2423160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9576" y="2377440"/>
            <a:ext cx="5449824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Blind Radial Expansion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Dijkstra searches in all directions equally like ripples in a pond. Even if your destination is North, it patiently checks South and West first.</a:t>
            </a:r>
          </a:p>
        </p:txBody>
      </p:sp>
      <p:sp>
        <p:nvSpPr>
          <p:cNvPr id="22" name="Diamond 21"/>
          <p:cNvSpPr/>
          <p:nvPr/>
        </p:nvSpPr>
        <p:spPr>
          <a:xfrm>
            <a:off x="960120" y="3261360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9576" y="3215640"/>
            <a:ext cx="5449824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Negative Edge Allergy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A single negative edge breaks the greedy correctness guarantee. It will happily return sub-optimal paths without throwing an error.</a:t>
            </a:r>
          </a:p>
        </p:txBody>
      </p:sp>
      <p:sp>
        <p:nvSpPr>
          <p:cNvPr id="24" name="Diamond 23"/>
          <p:cNvSpPr/>
          <p:nvPr/>
        </p:nvSpPr>
        <p:spPr>
          <a:xfrm>
            <a:off x="960120" y="4099560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9576" y="4053840"/>
            <a:ext cx="5449824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Memory Footprint at Scale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Storing millions of road segments, distance arrays, and priority queues in RAM requires massive memory caching and graph partitioning.</a:t>
            </a:r>
          </a:p>
        </p:txBody>
      </p:sp>
      <p:sp>
        <p:nvSpPr>
          <p:cNvPr id="26" name="Rectangle 25"/>
          <p:cNvSpPr/>
          <p:nvPr/>
        </p:nvSpPr>
        <p:spPr>
          <a:xfrm rot="21180000">
            <a:off x="960120" y="5010912"/>
            <a:ext cx="1737360" cy="384048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BLIND SEARCH</a:t>
            </a:r>
          </a:p>
        </p:txBody>
      </p:sp>
      <p:sp>
        <p:nvSpPr>
          <p:cNvPr id="27" name="Rectangle 26"/>
          <p:cNvSpPr/>
          <p:nvPr/>
        </p:nvSpPr>
        <p:spPr>
          <a:xfrm rot="120000">
            <a:off x="7040880" y="960120"/>
            <a:ext cx="4023360" cy="420624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metho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205472" y="1124712"/>
            <a:ext cx="3694176" cy="354787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 rot="120000">
            <a:off x="7205472" y="1124712"/>
            <a:ext cx="3694176" cy="354787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 rot="21360000">
            <a:off x="7315200" y="86868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 rot="480000">
            <a:off x="9784080" y="86868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 rot="120000">
            <a:off x="7178040" y="4709159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Dijkstra expands in concentric circles. A* shines a directional flashlight.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B7822-9D87-0C7D-8A63-FA4324B74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80A205-268D-83BF-6991-C43D4F9B59B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0E6F4F-62B8-F2BF-D367-5B96667AFE1A}"/>
              </a:ext>
            </a:extLst>
          </p:cNvPr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56D189-332A-EA72-1122-FF2C6E0AC751}"/>
              </a:ext>
            </a:extLst>
          </p:cNvPr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04D305A-D963-A927-52C8-C5E3CDAD5B82}"/>
              </a:ext>
            </a:extLst>
          </p:cNvPr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E58E32-13D1-47A7-0FEC-D0CDEE24B67C}"/>
              </a:ext>
            </a:extLst>
          </p:cNvPr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F6CBC0-CDBE-EAC7-216C-357FA9298E21}"/>
              </a:ext>
            </a:extLst>
          </p:cNvPr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2AE578-082D-9E44-2022-D9E0A8BC4671}"/>
              </a:ext>
            </a:extLst>
          </p:cNvPr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7DB6A83-33D0-0AE5-B1D1-EAC04377CB32}"/>
              </a:ext>
            </a:extLst>
          </p:cNvPr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8222A8-1ACF-A381-E56C-C0044E5345A6}"/>
              </a:ext>
            </a:extLst>
          </p:cNvPr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D466A5-E223-82C2-AC8C-A758611E73A1}"/>
              </a:ext>
            </a:extLst>
          </p:cNvPr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15 / 18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543681-71CA-00E5-D457-B0959BB9C331}"/>
              </a:ext>
            </a:extLst>
          </p:cNvPr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"It will find the shortest path to Paris by also carefully checking Munich."</a:t>
            </a: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10D5F3F3-96FA-B8D3-BB22-81BDC7A48BDD}"/>
              </a:ext>
            </a:extLst>
          </p:cNvPr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>
            <a:extLst>
              <a:ext uri="{FF2B5EF4-FFF2-40B4-BE49-F238E27FC236}">
                <a16:creationId xmlns:a16="http://schemas.microsoft.com/office/drawing/2014/main" id="{1BDE48D2-5874-7A9E-9FBF-C39FD9929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98E8D7B-87B5-A85C-7F1C-67FAA03A18DB}"/>
              </a:ext>
            </a:extLst>
          </p:cNvPr>
          <p:cNvSpPr/>
          <p:nvPr/>
        </p:nvSpPr>
        <p:spPr>
          <a:xfrm rot="21540000">
            <a:off x="960120" y="548640"/>
            <a:ext cx="2743200" cy="256032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topic 6b  ·  Limitations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22CEC0-8846-ECDF-51EF-179048222E6D}"/>
              </a:ext>
            </a:extLst>
          </p:cNvPr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2C2416"/>
                </a:solidFill>
                <a:latin typeface="Ink Free"/>
              </a:defRPr>
            </a:pPr>
            <a:r>
              <a:t>The fine print in the pathfinder's contract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ACBE9AC-1616-C1F2-E810-AAD5B860453E}"/>
              </a:ext>
            </a:extLst>
          </p:cNvPr>
          <p:cNvSpPr/>
          <p:nvPr/>
        </p:nvSpPr>
        <p:spPr>
          <a:xfrm>
            <a:off x="960120" y="1250911"/>
            <a:ext cx="5486400" cy="58436"/>
          </a:xfrm>
          <a:custGeom>
            <a:avLst/>
            <a:gdLst/>
            <a:ahLst/>
            <a:cxnLst/>
            <a:rect l="l" t="t" r="r" b="b"/>
            <a:pathLst>
              <a:path w="5486400" h="58436">
                <a:moveTo>
                  <a:pt x="0" y="29249"/>
                </a:moveTo>
                <a:lnTo>
                  <a:pt x="195942" y="49194"/>
                </a:lnTo>
                <a:lnTo>
                  <a:pt x="391885" y="58436"/>
                </a:lnTo>
                <a:lnTo>
                  <a:pt x="587828" y="52016"/>
                </a:lnTo>
                <a:lnTo>
                  <a:pt x="783771" y="33378"/>
                </a:lnTo>
                <a:lnTo>
                  <a:pt x="979714" y="12524"/>
                </a:lnTo>
                <a:lnTo>
                  <a:pt x="1175657" y="645"/>
                </a:lnTo>
                <a:lnTo>
                  <a:pt x="1371600" y="4115"/>
                </a:lnTo>
                <a:lnTo>
                  <a:pt x="1567542" y="21073"/>
                </a:lnTo>
                <a:lnTo>
                  <a:pt x="1763485" y="42417"/>
                </a:lnTo>
                <a:lnTo>
                  <a:pt x="1959428" y="56695"/>
                </a:lnTo>
                <a:lnTo>
                  <a:pt x="2155371" y="56245"/>
                </a:lnTo>
                <a:lnTo>
                  <a:pt x="2351314" y="41307"/>
                </a:lnTo>
                <a:lnTo>
                  <a:pt x="2547257" y="19899"/>
                </a:lnTo>
                <a:lnTo>
                  <a:pt x="2743200" y="3508"/>
                </a:lnTo>
                <a:lnTo>
                  <a:pt x="2939142" y="930"/>
                </a:lnTo>
                <a:lnTo>
                  <a:pt x="3135085" y="13548"/>
                </a:lnTo>
                <a:lnTo>
                  <a:pt x="3331028" y="34591"/>
                </a:lnTo>
                <a:lnTo>
                  <a:pt x="3526971" y="52768"/>
                </a:lnTo>
                <a:lnTo>
                  <a:pt x="3722914" y="58323"/>
                </a:lnTo>
                <a:lnTo>
                  <a:pt x="3918857" y="48276"/>
                </a:lnTo>
                <a:lnTo>
                  <a:pt x="4114800" y="28019"/>
                </a:lnTo>
                <a:lnTo>
                  <a:pt x="4310742" y="8421"/>
                </a:lnTo>
                <a:lnTo>
                  <a:pt x="4506685" y="0"/>
                </a:lnTo>
                <a:lnTo>
                  <a:pt x="4702628" y="7274"/>
                </a:lnTo>
                <a:lnTo>
                  <a:pt x="4898571" y="26340"/>
                </a:lnTo>
                <a:lnTo>
                  <a:pt x="5094514" y="46967"/>
                </a:lnTo>
                <a:lnTo>
                  <a:pt x="5290457" y="58086"/>
                </a:lnTo>
                <a:lnTo>
                  <a:pt x="5486400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90AD50-E7C4-399E-72E5-96EBCF26C6FF}"/>
              </a:ext>
            </a:extLst>
          </p:cNvPr>
          <p:cNvSpPr/>
          <p:nvPr/>
        </p:nvSpPr>
        <p:spPr>
          <a:xfrm rot="21552000">
            <a:off x="960120" y="1609344"/>
            <a:ext cx="5669280" cy="594360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Fast and optimal, but completely blind to spatial direction and strictly allergic to negative numbers.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7BC047-C5A7-AF7D-38C1-918FE4027A4A}"/>
              </a:ext>
            </a:extLst>
          </p:cNvPr>
          <p:cNvSpPr/>
          <p:nvPr/>
        </p:nvSpPr>
        <p:spPr>
          <a:xfrm rot="21552000">
            <a:off x="324612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371201E4-6A30-D8FF-7D9E-A256A89230CD}"/>
              </a:ext>
            </a:extLst>
          </p:cNvPr>
          <p:cNvSpPr/>
          <p:nvPr/>
        </p:nvSpPr>
        <p:spPr>
          <a:xfrm>
            <a:off x="960120" y="2423160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860EEC-9F80-1D9A-8959-245697C28475}"/>
              </a:ext>
            </a:extLst>
          </p:cNvPr>
          <p:cNvSpPr txBox="1"/>
          <p:nvPr/>
        </p:nvSpPr>
        <p:spPr>
          <a:xfrm>
            <a:off x="1179576" y="2377440"/>
            <a:ext cx="5449824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Blind Radial Expansion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Dijkstra searches in all directions equally like ripples in a pond. Even if your destination is North, it patiently checks South and West first.</a:t>
            </a: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A260EFA3-3F77-7B2B-C93E-3E150253B05B}"/>
              </a:ext>
            </a:extLst>
          </p:cNvPr>
          <p:cNvSpPr/>
          <p:nvPr/>
        </p:nvSpPr>
        <p:spPr>
          <a:xfrm>
            <a:off x="960120" y="3261360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9BF7A4-88EF-350D-1F87-9A9FA512B46F}"/>
              </a:ext>
            </a:extLst>
          </p:cNvPr>
          <p:cNvSpPr txBox="1"/>
          <p:nvPr/>
        </p:nvSpPr>
        <p:spPr>
          <a:xfrm>
            <a:off x="1179576" y="3215640"/>
            <a:ext cx="5449824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Negative Edge Allergy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A single negative edge breaks the greedy correctness guarantee. It will happily return sub-optimal paths without throwing an error.</a:t>
            </a: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FADB9858-A008-39FC-9B20-D999134FDDEB}"/>
              </a:ext>
            </a:extLst>
          </p:cNvPr>
          <p:cNvSpPr/>
          <p:nvPr/>
        </p:nvSpPr>
        <p:spPr>
          <a:xfrm>
            <a:off x="960120" y="4099560"/>
            <a:ext cx="128016" cy="128016"/>
          </a:xfrm>
          <a:prstGeom prst="diamond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098D8D-EA23-2BA9-110F-FE48B85DAE00}"/>
              </a:ext>
            </a:extLst>
          </p:cNvPr>
          <p:cNvSpPr txBox="1"/>
          <p:nvPr/>
        </p:nvSpPr>
        <p:spPr>
          <a:xfrm>
            <a:off x="1179576" y="4053840"/>
            <a:ext cx="5449824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350" b="1">
                <a:solidFill>
                  <a:srgbClr val="2C2416"/>
                </a:solidFill>
                <a:latin typeface="Ink Free"/>
              </a:defRPr>
            </a:pPr>
            <a:r>
              <a:t>Memory Footprint at Scale</a:t>
            </a:r>
          </a:p>
          <a:p>
            <a:pPr>
              <a:defRPr sz="1100">
                <a:solidFill>
                  <a:srgbClr val="5C4E3A"/>
                </a:solidFill>
                <a:latin typeface="Ink Free"/>
              </a:defRPr>
            </a:pPr>
            <a:r>
              <a:t>Storing millions of road segments, distance arrays, and priority queues in RAM requires massive memory caching and graph partitioning.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ECE293-D468-2206-4F1E-1E4EB80B65FC}"/>
              </a:ext>
            </a:extLst>
          </p:cNvPr>
          <p:cNvSpPr/>
          <p:nvPr/>
        </p:nvSpPr>
        <p:spPr>
          <a:xfrm rot="21180000">
            <a:off x="960120" y="5010912"/>
            <a:ext cx="1737360" cy="384048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BLIND SEARCH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DF0472-C3D9-6B3A-3075-4D8C643F68CD}"/>
              </a:ext>
            </a:extLst>
          </p:cNvPr>
          <p:cNvSpPr/>
          <p:nvPr/>
        </p:nvSpPr>
        <p:spPr>
          <a:xfrm rot="120000">
            <a:off x="7040880" y="960120"/>
            <a:ext cx="4023360" cy="420624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methods.jpg">
            <a:extLst>
              <a:ext uri="{FF2B5EF4-FFF2-40B4-BE49-F238E27FC236}">
                <a16:creationId xmlns:a16="http://schemas.microsoft.com/office/drawing/2014/main" id="{6DE24BDB-8FE1-E3EC-F692-5900F3913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205472" y="1124712"/>
            <a:ext cx="3694176" cy="354787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FA68C98-6264-914F-96C1-CDBB1CF04471}"/>
              </a:ext>
            </a:extLst>
          </p:cNvPr>
          <p:cNvSpPr/>
          <p:nvPr/>
        </p:nvSpPr>
        <p:spPr>
          <a:xfrm rot="120000">
            <a:off x="7205472" y="1124712"/>
            <a:ext cx="3694176" cy="354787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60A36A-CA3A-C252-5AFB-7C0606116E9D}"/>
              </a:ext>
            </a:extLst>
          </p:cNvPr>
          <p:cNvSpPr/>
          <p:nvPr/>
        </p:nvSpPr>
        <p:spPr>
          <a:xfrm rot="21360000">
            <a:off x="7315200" y="86868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31B19B-234D-6900-9750-6F2ECA3FAA8F}"/>
              </a:ext>
            </a:extLst>
          </p:cNvPr>
          <p:cNvSpPr/>
          <p:nvPr/>
        </p:nvSpPr>
        <p:spPr>
          <a:xfrm rot="480000">
            <a:off x="9784080" y="86868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BB6C7-47F6-0833-6ECF-483AD53742AC}"/>
              </a:ext>
            </a:extLst>
          </p:cNvPr>
          <p:cNvSpPr txBox="1"/>
          <p:nvPr/>
        </p:nvSpPr>
        <p:spPr>
          <a:xfrm rot="120000">
            <a:off x="7178040" y="4709159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Dijkstra expands in concentric circles. A* shines a directional flashlight.</a:t>
            </a:r>
          </a:p>
        </p:txBody>
      </p:sp>
    </p:spTree>
    <p:extLst>
      <p:ext uri="{BB962C8B-B14F-4D97-AF65-F5344CB8AC3E}">
        <p14:creationId xmlns:p14="http://schemas.microsoft.com/office/powerpoint/2010/main" val="507238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16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"Every time your packet hops across three continents, thank Edsger."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40000">
            <a:off x="960120" y="548640"/>
            <a:ext cx="2743200" cy="256032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topic 7  ·  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500" b="1">
                <a:solidFill>
                  <a:srgbClr val="2C2416"/>
                </a:solidFill>
                <a:latin typeface="Ink Free"/>
              </a:defRPr>
            </a:pPr>
            <a:r>
              <a:t>Where Dijkstra actually directs traffic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5358384" cy="58436"/>
          </a:xfrm>
          <a:custGeom>
            <a:avLst/>
            <a:gdLst/>
            <a:ahLst/>
            <a:cxnLst/>
            <a:rect l="l" t="t" r="r" b="b"/>
            <a:pathLst>
              <a:path w="5358384" h="58436">
                <a:moveTo>
                  <a:pt x="0" y="29249"/>
                </a:moveTo>
                <a:lnTo>
                  <a:pt x="191370" y="49194"/>
                </a:lnTo>
                <a:lnTo>
                  <a:pt x="382741" y="58436"/>
                </a:lnTo>
                <a:lnTo>
                  <a:pt x="574112" y="52016"/>
                </a:lnTo>
                <a:lnTo>
                  <a:pt x="765483" y="33378"/>
                </a:lnTo>
                <a:lnTo>
                  <a:pt x="956854" y="12524"/>
                </a:lnTo>
                <a:lnTo>
                  <a:pt x="1148225" y="645"/>
                </a:lnTo>
                <a:lnTo>
                  <a:pt x="1339596" y="4115"/>
                </a:lnTo>
                <a:lnTo>
                  <a:pt x="1530966" y="21073"/>
                </a:lnTo>
                <a:lnTo>
                  <a:pt x="1722337" y="42417"/>
                </a:lnTo>
                <a:lnTo>
                  <a:pt x="1913708" y="56695"/>
                </a:lnTo>
                <a:lnTo>
                  <a:pt x="2105079" y="56245"/>
                </a:lnTo>
                <a:lnTo>
                  <a:pt x="2296450" y="41307"/>
                </a:lnTo>
                <a:lnTo>
                  <a:pt x="2487821" y="19899"/>
                </a:lnTo>
                <a:lnTo>
                  <a:pt x="2679192" y="3508"/>
                </a:lnTo>
                <a:lnTo>
                  <a:pt x="2870562" y="930"/>
                </a:lnTo>
                <a:lnTo>
                  <a:pt x="3061933" y="13548"/>
                </a:lnTo>
                <a:lnTo>
                  <a:pt x="3253304" y="34591"/>
                </a:lnTo>
                <a:lnTo>
                  <a:pt x="3444675" y="52768"/>
                </a:lnTo>
                <a:lnTo>
                  <a:pt x="3636046" y="58323"/>
                </a:lnTo>
                <a:lnTo>
                  <a:pt x="3827417" y="48276"/>
                </a:lnTo>
                <a:lnTo>
                  <a:pt x="4018788" y="28019"/>
                </a:lnTo>
                <a:lnTo>
                  <a:pt x="4210158" y="8421"/>
                </a:lnTo>
                <a:lnTo>
                  <a:pt x="4401529" y="0"/>
                </a:lnTo>
                <a:lnTo>
                  <a:pt x="4592900" y="7274"/>
                </a:lnTo>
                <a:lnTo>
                  <a:pt x="4784271" y="26340"/>
                </a:lnTo>
                <a:lnTo>
                  <a:pt x="4975642" y="46967"/>
                </a:lnTo>
                <a:lnTo>
                  <a:pt x="5167013" y="58086"/>
                </a:lnTo>
                <a:lnTo>
                  <a:pt x="5358384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52000">
            <a:off x="960120" y="1609344"/>
            <a:ext cx="5669280" cy="594360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From your fiber-optic router packets to your Friday night pizza delivery navigation route.</a:t>
            </a:r>
          </a:p>
        </p:txBody>
      </p:sp>
      <p:sp>
        <p:nvSpPr>
          <p:cNvPr id="19" name="Rectangle 18"/>
          <p:cNvSpPr/>
          <p:nvPr/>
        </p:nvSpPr>
        <p:spPr>
          <a:xfrm rot="21552000">
            <a:off x="324612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" y="2377440"/>
            <a:ext cx="2743200" cy="118872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1. Internet Routing Protocols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OSPF (Open Shortest Path First) and IS-IS use Dijkstra's SPF algorithm to calculate shortest router hops across global backbones.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2377440"/>
            <a:ext cx="2743200" cy="1188720"/>
          </a:xfrm>
          <a:prstGeom prst="roundRect">
            <a:avLst/>
          </a:prstGeom>
          <a:solidFill>
            <a:srgbClr val="EFE4B8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2. GPS &amp; Road Navigation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Google Maps and OpenStreetMap use Dijkstra and its bidirectional A* variants for turn-by-turn routing across road networks.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3703320"/>
            <a:ext cx="2743200" cy="1188720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3. Telecom &amp; Fiber Latency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Telecommunication carriers route voice and high-frequency trading data through minimum-latency fiber optic cable paths.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86200" y="3703320"/>
            <a:ext cx="2743200" cy="1188720"/>
          </a:xfrm>
          <a:prstGeom prst="roundRect">
            <a:avLst/>
          </a:prstGeom>
          <a:solidFill>
            <a:srgbClr val="EFE4B8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4. Robotics &amp; Game AI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Grid path planning for autonomous factory rovers, drone delivery routes, and game NPC navigation on 3D navmeshes.</a:t>
            </a:r>
          </a:p>
        </p:txBody>
      </p:sp>
      <p:sp>
        <p:nvSpPr>
          <p:cNvPr id="24" name="Rectangle 23"/>
          <p:cNvSpPr/>
          <p:nvPr/>
        </p:nvSpPr>
        <p:spPr>
          <a:xfrm rot="21120000">
            <a:off x="960120" y="5029200"/>
            <a:ext cx="1920240" cy="384048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IN PRODUCTION</a:t>
            </a:r>
          </a:p>
        </p:txBody>
      </p:sp>
      <p:sp>
        <p:nvSpPr>
          <p:cNvPr id="25" name="Rectangle 24"/>
          <p:cNvSpPr/>
          <p:nvPr/>
        </p:nvSpPr>
        <p:spPr>
          <a:xfrm rot="120000">
            <a:off x="7040880" y="960120"/>
            <a:ext cx="4023360" cy="420624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dijkstra_realworl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205472" y="1124712"/>
            <a:ext cx="3694176" cy="354787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 rot="120000">
            <a:off x="7205472" y="1124712"/>
            <a:ext cx="3694176" cy="354787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 rot="21360000">
            <a:off x="7315200" y="86868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 rot="480000">
            <a:off x="9784080" y="86868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 rot="120000">
            <a:off x="7178040" y="4709159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Natural habitat: any system where arriving late costs millions.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17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"If it's positive, it's optimal. If it's negative, it's chaos."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540000">
            <a:off x="960120" y="548640"/>
            <a:ext cx="2194560" cy="25603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the fridge door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100" b="1">
                <a:solidFill>
                  <a:srgbClr val="2C2416"/>
                </a:solidFill>
                <a:latin typeface="Ink Free"/>
              </a:defRPr>
            </a:pPr>
            <a:r>
              <a:t>Stick this on the fridge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4096512" cy="58436"/>
          </a:xfrm>
          <a:custGeom>
            <a:avLst/>
            <a:gdLst/>
            <a:ahLst/>
            <a:cxnLst/>
            <a:rect l="l" t="t" r="r" b="b"/>
            <a:pathLst>
              <a:path w="4096512" h="58436">
                <a:moveTo>
                  <a:pt x="0" y="29249"/>
                </a:moveTo>
                <a:lnTo>
                  <a:pt x="146304" y="49194"/>
                </a:lnTo>
                <a:lnTo>
                  <a:pt x="292608" y="58436"/>
                </a:lnTo>
                <a:lnTo>
                  <a:pt x="438912" y="52016"/>
                </a:lnTo>
                <a:lnTo>
                  <a:pt x="585216" y="33378"/>
                </a:lnTo>
                <a:lnTo>
                  <a:pt x="731520" y="12524"/>
                </a:lnTo>
                <a:lnTo>
                  <a:pt x="877824" y="645"/>
                </a:lnTo>
                <a:lnTo>
                  <a:pt x="1024128" y="4115"/>
                </a:lnTo>
                <a:lnTo>
                  <a:pt x="1170432" y="21073"/>
                </a:lnTo>
                <a:lnTo>
                  <a:pt x="1316736" y="42417"/>
                </a:lnTo>
                <a:lnTo>
                  <a:pt x="1463040" y="56695"/>
                </a:lnTo>
                <a:lnTo>
                  <a:pt x="1609344" y="56245"/>
                </a:lnTo>
                <a:lnTo>
                  <a:pt x="1755648" y="41307"/>
                </a:lnTo>
                <a:lnTo>
                  <a:pt x="1901952" y="19899"/>
                </a:lnTo>
                <a:lnTo>
                  <a:pt x="2048256" y="3508"/>
                </a:lnTo>
                <a:lnTo>
                  <a:pt x="2194560" y="930"/>
                </a:lnTo>
                <a:lnTo>
                  <a:pt x="2340864" y="13548"/>
                </a:lnTo>
                <a:lnTo>
                  <a:pt x="2487168" y="34591"/>
                </a:lnTo>
                <a:lnTo>
                  <a:pt x="2633472" y="52768"/>
                </a:lnTo>
                <a:lnTo>
                  <a:pt x="2779776" y="58323"/>
                </a:lnTo>
                <a:lnTo>
                  <a:pt x="2926080" y="48276"/>
                </a:lnTo>
                <a:lnTo>
                  <a:pt x="3072384" y="28019"/>
                </a:lnTo>
                <a:lnTo>
                  <a:pt x="3218688" y="8421"/>
                </a:lnTo>
                <a:lnTo>
                  <a:pt x="3364992" y="0"/>
                </a:lnTo>
                <a:lnTo>
                  <a:pt x="3511296" y="7274"/>
                </a:lnTo>
                <a:lnTo>
                  <a:pt x="3657600" y="26340"/>
                </a:lnTo>
                <a:lnTo>
                  <a:pt x="3803904" y="46967"/>
                </a:lnTo>
                <a:lnTo>
                  <a:pt x="3950208" y="58086"/>
                </a:lnTo>
                <a:lnTo>
                  <a:pt x="4096512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 rot="21570000">
            <a:off x="960120" y="1609344"/>
            <a:ext cx="9966960" cy="502920"/>
          </a:xfrm>
          <a:prstGeom prst="rect">
            <a:avLst/>
          </a:prstGeom>
          <a:solidFill>
            <a:srgbClr val="EFE4B8"/>
          </a:solidFill>
          <a:ln w="12700">
            <a:solidFill>
              <a:srgbClr val="DED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73152"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C45C3E"/>
                </a:solidFill>
                <a:latin typeface="Ink Free"/>
              </a:defRPr>
            </a:pPr>
            <a:r>
              <a:t>ONE-LINE DEFINITION</a:t>
            </a:r>
          </a:p>
          <a:p>
            <a:pPr>
              <a:defRPr sz="1150" b="1">
                <a:solidFill>
                  <a:srgbClr val="2C2416"/>
                </a:solidFill>
                <a:latin typeface="Ink Free"/>
              </a:defRPr>
            </a:pPr>
            <a:r>
              <a:t>If you remember four things from this deck, remember these four things.</a:t>
            </a:r>
          </a:p>
        </p:txBody>
      </p:sp>
      <p:sp>
        <p:nvSpPr>
          <p:cNvPr id="19" name="Rectangle 18"/>
          <p:cNvSpPr/>
          <p:nvPr/>
        </p:nvSpPr>
        <p:spPr>
          <a:xfrm rot="21570000">
            <a:off x="5394960" y="1527048"/>
            <a:ext cx="1097280" cy="16459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" y="2286000"/>
            <a:ext cx="5120640" cy="694944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2286000"/>
            <a:ext cx="502920" cy="694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2400" b="1">
                <a:solidFill>
                  <a:srgbClr val="C45C3E"/>
                </a:solidFill>
                <a:latin typeface="Ink Free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286000"/>
            <a:ext cx="4297679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100">
                <a:solidFill>
                  <a:srgbClr val="2C2416"/>
                </a:solidFill>
                <a:latin typeface="Ink Free"/>
              </a:defRPr>
            </a:pPr>
            <a:r>
              <a:t>Greedy core: Settle the closest unvisited node permanently, relax its neighbors, and repeat.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3090672"/>
            <a:ext cx="5120640" cy="694944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090672"/>
            <a:ext cx="502920" cy="694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2400" b="1">
                <a:solidFill>
                  <a:srgbClr val="C45C3E"/>
                </a:solidFill>
                <a:latin typeface="Ink Free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3090672"/>
            <a:ext cx="4297679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100">
                <a:solidFill>
                  <a:srgbClr val="2C2416"/>
                </a:solidFill>
                <a:latin typeface="Ink Free"/>
              </a:defRPr>
            </a:pPr>
            <a:r>
              <a:t>Strict non-negative rule: Weights must be ≥ 0. A single negative edge shatters the optimality proof.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3895344"/>
            <a:ext cx="5120640" cy="694944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3895344"/>
            <a:ext cx="502920" cy="694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2400" b="1">
                <a:solidFill>
                  <a:srgbClr val="C45C3E"/>
                </a:solidFill>
                <a:latin typeface="Ink Free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3895344"/>
            <a:ext cx="4297679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100">
                <a:solidFill>
                  <a:srgbClr val="2C2416"/>
                </a:solidFill>
                <a:latin typeface="Ink Free"/>
              </a:defRPr>
            </a:pPr>
            <a:r>
              <a:t>The relaxation formula: If dist[u] + w(u, v) &lt; dist[v], update dist[v] and set parent[v] = u.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4700016"/>
            <a:ext cx="5120640" cy="694944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4700016"/>
            <a:ext cx="502920" cy="6949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2400" b="1">
                <a:solidFill>
                  <a:srgbClr val="C45C3E"/>
                </a:solidFill>
                <a:latin typeface="Ink Free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700016"/>
            <a:ext cx="4297679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100">
                <a:solidFill>
                  <a:srgbClr val="2C2416"/>
                </a:solidFill>
                <a:latin typeface="Ink Free"/>
              </a:defRPr>
            </a:pPr>
            <a:r>
              <a:t>Complexity sweet spot: O((V + E) log V) with a binary min-heap — lightning fast for sparse real-world graphs.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286000"/>
            <a:ext cx="4572000" cy="685800"/>
          </a:xfrm>
          <a:prstGeom prst="roundRect">
            <a:avLst/>
          </a:prstGeom>
          <a:solidFill>
            <a:srgbClr val="C45C3E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BF6EA"/>
                </a:solidFill>
                <a:latin typeface="Ink Free"/>
              </a:defRPr>
            </a:pPr>
            <a:r>
              <a:t>What</a:t>
            </a:r>
          </a:p>
          <a:p>
            <a:pPr>
              <a:defRPr sz="1050">
                <a:solidFill>
                  <a:srgbClr val="FBF6EA"/>
                </a:solidFill>
                <a:latin typeface="Ink Free"/>
              </a:defRPr>
            </a:pPr>
            <a:r>
              <a:t>Single-Source Shortest Path algorithm for non-negative weighted graphs.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090672"/>
            <a:ext cx="4572000" cy="685800"/>
          </a:xfrm>
          <a:prstGeom prst="roundRect">
            <a:avLst/>
          </a:prstGeom>
          <a:solidFill>
            <a:srgbClr val="5E7A58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FBF6EA"/>
                </a:solidFill>
                <a:latin typeface="Ink Free"/>
              </a:defRPr>
            </a:pPr>
            <a:r>
              <a:t>Who</a:t>
            </a:r>
          </a:p>
          <a:p>
            <a:pPr>
              <a:defRPr sz="1050">
                <a:solidFill>
                  <a:srgbClr val="FBF6EA"/>
                </a:solidFill>
                <a:latin typeface="Ink Free"/>
              </a:defRPr>
            </a:pPr>
            <a:r>
              <a:t>Edsger W. Dijkstra in 1956 (demonstrating the ARMAC computer).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3895344"/>
            <a:ext cx="4572000" cy="6858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rPr dirty="0"/>
              <a:t>How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rPr dirty="0"/>
              <a:t>Min-heap priority queue + edge relaxation + parent pointer backtracking.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700016"/>
            <a:ext cx="4572000" cy="685800"/>
          </a:xfrm>
          <a:prstGeom prst="roundRect">
            <a:avLst/>
          </a:prstGeom>
          <a:solidFill>
            <a:srgbClr val="EFE4B8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>
              <a:spcAft>
                <a:spcPts val="200"/>
              </a:spcAft>
              <a:defRPr sz="1300" b="1">
                <a:solidFill>
                  <a:srgbClr val="2C2416"/>
                </a:solidFill>
                <a:latin typeface="Ink Free"/>
              </a:defRPr>
            </a:pPr>
            <a:r>
              <a:t>Why / Why not</a:t>
            </a:r>
          </a:p>
          <a:p>
            <a:pPr>
              <a:defRPr sz="1050">
                <a:solidFill>
                  <a:srgbClr val="5C4E3A"/>
                </a:solidFill>
                <a:latin typeface="Ink Free"/>
              </a:defRPr>
            </a:pPr>
            <a:r>
              <a:t>Guaranteed optimal and fast; but blind radial search and zero negative tolerance.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2336" y="329184"/>
            <a:ext cx="11475720" cy="6291072"/>
          </a:xfrm>
          <a:prstGeom prst="rect">
            <a:avLst/>
          </a:prstGeom>
          <a:solidFill>
            <a:srgbClr val="42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11460175" cy="6263640"/>
          </a:xfrm>
          <a:prstGeom prst="rect">
            <a:avLst/>
          </a:prstGeom>
          <a:solidFill>
            <a:srgbClr val="F3EAD6"/>
          </a:solidFill>
          <a:ln w="15240">
            <a:solidFill>
              <a:srgbClr val="DC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342900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5303520"/>
            <a:ext cx="201168" cy="201168"/>
          </a:xfrm>
          <a:prstGeom prst="ellipse">
            <a:avLst/>
          </a:prstGeom>
          <a:solidFill>
            <a:srgbClr val="6E522E"/>
          </a:solidFill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">
            <a:off x="10469880" y="164592"/>
            <a:ext cx="310896" cy="868680"/>
          </a:xfrm>
          <a:prstGeom prst="roundRect">
            <a:avLst/>
          </a:prstGeom>
          <a:noFill/>
          <a:ln w="2794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 rot="720000">
            <a:off x="10533888" y="310896"/>
            <a:ext cx="182880" cy="594360"/>
          </a:xfrm>
          <a:prstGeom prst="roundRect">
            <a:avLst/>
          </a:prstGeom>
          <a:noFill/>
          <a:ln w="22860">
            <a:solidFill>
              <a:srgbClr val="5C4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5907024"/>
            <a:ext cx="11460175" cy="18288"/>
          </a:xfrm>
          <a:prstGeom prst="rect">
            <a:avLst/>
          </a:prstGeom>
          <a:solidFill>
            <a:srgbClr val="DC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6016752"/>
            <a:ext cx="118872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defRPr sz="1500" b="1">
                <a:solidFill>
                  <a:srgbClr val="5C4E3A"/>
                </a:solidFill>
                <a:latin typeface="Ink Free"/>
              </a:defRPr>
            </a:pPr>
            <a:r>
              <a:t>18 / 18</a:t>
            </a:r>
          </a:p>
        </p:txBody>
      </p:sp>
      <p:sp>
        <p:nvSpPr>
          <p:cNvPr id="12" name="Rounded Rectangle 11"/>
          <p:cNvSpPr/>
          <p:nvPr/>
        </p:nvSpPr>
        <p:spPr>
          <a:xfrm rot="21540000">
            <a:off x="5760720" y="5980176"/>
            <a:ext cx="5029200" cy="438912"/>
          </a:xfrm>
          <a:prstGeom prst="roundRect">
            <a:avLst/>
          </a:prstGeom>
          <a:solidFill>
            <a:srgbClr val="FBF6EA"/>
          </a:solidFill>
          <a:ln w="1524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>
              <a:defRPr sz="1100" i="1">
                <a:solidFill>
                  <a:srgbClr val="2C2416"/>
                </a:solidFill>
                <a:latin typeface="Ink Free"/>
              </a:defRPr>
            </a:pPr>
            <a:r>
              <a:t>"Applause is a non-negative edge weight. Please add it to our score."</a:t>
            </a:r>
          </a:p>
        </p:txBody>
      </p:sp>
      <p:sp>
        <p:nvSpPr>
          <p:cNvPr id="13" name="Right Triangle 12"/>
          <p:cNvSpPr/>
          <p:nvPr/>
        </p:nvSpPr>
        <p:spPr>
          <a:xfrm rot="2700000">
            <a:off x="10744200" y="6108192"/>
            <a:ext cx="128016" cy="128016"/>
          </a:xfrm>
          <a:prstGeom prst="rtTriangle">
            <a:avLst/>
          </a:prstGeom>
          <a:solidFill>
            <a:srgbClr val="FBF6EA"/>
          </a:solidFill>
          <a:ln w="12700">
            <a:solidFill>
              <a:srgbClr val="FB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ippy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5907024"/>
            <a:ext cx="585216" cy="5852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 rot="21480000">
            <a:off x="960120" y="548640"/>
            <a:ext cx="4023360" cy="256032"/>
          </a:xfrm>
          <a:prstGeom prst="rect">
            <a:avLst/>
          </a:prstGeom>
          <a:solidFill>
            <a:srgbClr val="5E7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l">
              <a:defRPr sz="1150" b="1">
                <a:solidFill>
                  <a:srgbClr val="FBF6EA"/>
                </a:solidFill>
                <a:latin typeface="Ink Free"/>
              </a:defRPr>
            </a:pPr>
            <a:r>
              <a:t>Group 2  ·  Algorithms &amp; Data Structures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877824"/>
            <a:ext cx="5669280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2C2416"/>
                </a:solidFill>
                <a:latin typeface="Ink Free"/>
              </a:defRPr>
            </a:pPr>
            <a:r>
              <a:t>That's a wrap — the optimal kind</a:t>
            </a:r>
          </a:p>
        </p:txBody>
      </p:sp>
      <p:sp>
        <p:nvSpPr>
          <p:cNvPr id="17" name="Freeform 16"/>
          <p:cNvSpPr/>
          <p:nvPr/>
        </p:nvSpPr>
        <p:spPr>
          <a:xfrm>
            <a:off x="960120" y="1250911"/>
            <a:ext cx="4462272" cy="58436"/>
          </a:xfrm>
          <a:custGeom>
            <a:avLst/>
            <a:gdLst/>
            <a:ahLst/>
            <a:cxnLst/>
            <a:rect l="l" t="t" r="r" b="b"/>
            <a:pathLst>
              <a:path w="4462272" h="58436">
                <a:moveTo>
                  <a:pt x="0" y="29249"/>
                </a:moveTo>
                <a:lnTo>
                  <a:pt x="159366" y="49194"/>
                </a:lnTo>
                <a:lnTo>
                  <a:pt x="318733" y="58436"/>
                </a:lnTo>
                <a:lnTo>
                  <a:pt x="478100" y="52016"/>
                </a:lnTo>
                <a:lnTo>
                  <a:pt x="637467" y="33378"/>
                </a:lnTo>
                <a:lnTo>
                  <a:pt x="796834" y="12524"/>
                </a:lnTo>
                <a:lnTo>
                  <a:pt x="956201" y="645"/>
                </a:lnTo>
                <a:lnTo>
                  <a:pt x="1115568" y="4115"/>
                </a:lnTo>
                <a:lnTo>
                  <a:pt x="1274934" y="21073"/>
                </a:lnTo>
                <a:lnTo>
                  <a:pt x="1434301" y="42417"/>
                </a:lnTo>
                <a:lnTo>
                  <a:pt x="1593668" y="56695"/>
                </a:lnTo>
                <a:lnTo>
                  <a:pt x="1753035" y="56245"/>
                </a:lnTo>
                <a:lnTo>
                  <a:pt x="1912402" y="41307"/>
                </a:lnTo>
                <a:lnTo>
                  <a:pt x="2071769" y="19899"/>
                </a:lnTo>
                <a:lnTo>
                  <a:pt x="2231136" y="3508"/>
                </a:lnTo>
                <a:lnTo>
                  <a:pt x="2390502" y="930"/>
                </a:lnTo>
                <a:lnTo>
                  <a:pt x="2549869" y="13548"/>
                </a:lnTo>
                <a:lnTo>
                  <a:pt x="2709236" y="34591"/>
                </a:lnTo>
                <a:lnTo>
                  <a:pt x="2868603" y="52768"/>
                </a:lnTo>
                <a:lnTo>
                  <a:pt x="3027970" y="58323"/>
                </a:lnTo>
                <a:lnTo>
                  <a:pt x="3187337" y="48276"/>
                </a:lnTo>
                <a:lnTo>
                  <a:pt x="3346704" y="28019"/>
                </a:lnTo>
                <a:lnTo>
                  <a:pt x="3506070" y="8421"/>
                </a:lnTo>
                <a:lnTo>
                  <a:pt x="3665437" y="0"/>
                </a:lnTo>
                <a:lnTo>
                  <a:pt x="3824804" y="7274"/>
                </a:lnTo>
                <a:lnTo>
                  <a:pt x="3984171" y="26340"/>
                </a:lnTo>
                <a:lnTo>
                  <a:pt x="4143538" y="46967"/>
                </a:lnTo>
                <a:lnTo>
                  <a:pt x="4302905" y="58086"/>
                </a:lnTo>
                <a:lnTo>
                  <a:pt x="4462272" y="53730"/>
                </a:lnTo>
                <a:close/>
              </a:path>
            </a:pathLst>
          </a:custGeom>
          <a:noFill/>
          <a:ln w="3048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16916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C4E3A"/>
                </a:solidFill>
                <a:latin typeface="Ink Free"/>
              </a:defRPr>
            </a:pPr>
            <a:r>
              <a:t>Questions? We relax them. The shortest path to clarity begins with the nearest unvisited microphone.</a:t>
            </a:r>
          </a:p>
        </p:txBody>
      </p:sp>
      <p:sp>
        <p:nvSpPr>
          <p:cNvPr id="19" name="Rectangle 18"/>
          <p:cNvSpPr/>
          <p:nvPr/>
        </p:nvSpPr>
        <p:spPr>
          <a:xfrm rot="21120000">
            <a:off x="960120" y="2788920"/>
            <a:ext cx="1645920" cy="420624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COST = MIN</a:t>
            </a:r>
          </a:p>
        </p:txBody>
      </p:sp>
      <p:sp>
        <p:nvSpPr>
          <p:cNvPr id="20" name="Rectangle 19"/>
          <p:cNvSpPr/>
          <p:nvPr/>
        </p:nvSpPr>
        <p:spPr>
          <a:xfrm rot="21300000">
            <a:off x="2788920" y="2743200"/>
            <a:ext cx="2011680" cy="420624"/>
          </a:xfrm>
          <a:prstGeom prst="rect">
            <a:avLst/>
          </a:prstGeom>
          <a:noFill/>
          <a:ln w="31750">
            <a:solidFill>
              <a:srgbClr val="C4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300" b="1">
                <a:solidFill>
                  <a:srgbClr val="C45C3E"/>
                </a:solidFill>
                <a:latin typeface="Ink Free"/>
              </a:defRPr>
            </a:pPr>
            <a:r>
              <a:t>OPTIMAL PATH</a:t>
            </a:r>
          </a:p>
        </p:txBody>
      </p:sp>
      <p:sp>
        <p:nvSpPr>
          <p:cNvPr id="21" name="Rectangle 20"/>
          <p:cNvSpPr/>
          <p:nvPr/>
        </p:nvSpPr>
        <p:spPr>
          <a:xfrm rot="120000">
            <a:off x="6675120" y="868680"/>
            <a:ext cx="4389120" cy="4389120"/>
          </a:xfrm>
          <a:prstGeom prst="rect">
            <a:avLst/>
          </a:prstGeom>
          <a:solidFill>
            <a:srgbClr val="FBF6EA"/>
          </a:solidFill>
          <a:ln w="12700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conduct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6839712" y="1033271"/>
            <a:ext cx="4059935" cy="373075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 rot="120000">
            <a:off x="6839712" y="1033271"/>
            <a:ext cx="4059935" cy="3730752"/>
          </a:xfrm>
          <a:prstGeom prst="rect">
            <a:avLst/>
          </a:prstGeom>
          <a:noFill/>
          <a:ln w="9525">
            <a:solidFill>
              <a:srgbClr val="2C2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 rot="21360000">
            <a:off x="6949440" y="777240"/>
            <a:ext cx="1005840" cy="182880"/>
          </a:xfrm>
          <a:prstGeom prst="rect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 rot="480000">
            <a:off x="9784080" y="777240"/>
            <a:ext cx="914400" cy="18288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 rot="120000">
            <a:off x="6812280" y="480060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>
                <a:solidFill>
                  <a:srgbClr val="5C4E3A"/>
                </a:solidFill>
                <a:latin typeface="Ink Free"/>
              </a:defRPr>
            </a:pPr>
            <a:r>
              <a:t>Path settled. Total cost minimized. Next graph, please.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3272</Words>
  <Application>Microsoft Office PowerPoint</Application>
  <PresentationFormat>Widescreen</PresentationFormat>
  <Paragraphs>333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JOSHI</cp:lastModifiedBy>
  <cp:revision>3</cp:revision>
  <dcterms:created xsi:type="dcterms:W3CDTF">2013-01-27T09:14:16Z</dcterms:created>
  <dcterms:modified xsi:type="dcterms:W3CDTF">2026-10-20T13:53:04Z</dcterms:modified>
  <cp:category/>
</cp:coreProperties>
</file>